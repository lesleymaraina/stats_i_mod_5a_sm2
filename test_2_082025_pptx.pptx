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6" Type="http://schemas.openxmlformats.org/officeDocument/2006/relationships/viewProps" Target="viewProps.xml" /><Relationship Id="rId35" Type="http://schemas.openxmlformats.org/officeDocument/2006/relationships/presProps" Target="presProps.xml" /><Relationship Id="rId1" Type="http://schemas.openxmlformats.org/officeDocument/2006/relationships/slideMaster" Target="slideMasters/slideMaster1.xml" /><Relationship Id="rId38" Type="http://schemas.openxmlformats.org/officeDocument/2006/relationships/tableStyles" Target="tableStyles.xml" /><Relationship Id="rId37"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Foundations in Hypothesis Testing</a:t>
            </a:r>
          </a:p>
        </p:txBody>
      </p:sp>
      <p:sp>
        <p:nvSpPr>
          <p:cNvPr id="3" name="Subtitle 2"/>
          <p:cNvSpPr>
            <a:spLocks noGrp="1"/>
          </p:cNvSpPr>
          <p:nvPr>
            <p:ph idx="1" type="subTitle"/>
          </p:nvPr>
        </p:nvSpPr>
        <p:spPr>
          <a:xfrm>
            <a:off x="1371600" y="2914650"/>
            <a:ext cx="6400800" cy="1314450"/>
          </a:xfrm>
        </p:spPr>
        <p:txBody>
          <a:bodyPr/>
          <a:lstStyle/>
          <a:p>
            <a:pPr lvl="0" indent="0" marL="0">
              <a:buNone/>
            </a:pPr>
            <a:br/>
            <a:br/>
            <a:r>
              <a:rPr/>
              <a:t>Lesley Chapman Hannah, Ph.D., M.S.College of Graduate StudiesNortheast Ohio Medical University</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Learning Objectives</a:t>
            </a:r>
          </a:p>
        </p:txBody>
      </p:sp>
      <p:sp>
        <p:nvSpPr>
          <p:cNvPr id="3" name="Content Placeholder 2"/>
          <p:cNvSpPr>
            <a:spLocks noGrp="1"/>
          </p:cNvSpPr>
          <p:nvPr>
            <p:ph idx="1"/>
          </p:nvPr>
        </p:nvSpPr>
        <p:spPr/>
        <p:txBody>
          <a:bodyPr/>
          <a:lstStyle/>
          <a:p>
            <a:pPr lvl="0" indent="0" marL="0">
              <a:buNone/>
            </a:pPr>
            <a:r>
              <a:rPr/>
              <a:t>By the end of this lecture, students should be able to:</a:t>
            </a:r>
          </a:p>
          <a:p>
            <a:pPr lvl="0"/>
            <a:r>
              <a:rPr/>
              <a:t>define </a:t>
            </a:r>
            <a:r>
              <a:rPr b="1"/>
              <a:t>hypothesis testing</a:t>
            </a:r>
            <a:r>
              <a:rPr/>
              <a:t> as a formal decision framework built on estimation</a:t>
            </a:r>
          </a:p>
          <a:p>
            <a:pPr lvl="0"/>
            <a:r>
              <a:rPr/>
              <a:t>explain why the workflow begins with the </a:t>
            </a:r>
            <a:r>
              <a:rPr b="1"/>
              <a:t>estimand</a:t>
            </a:r>
          </a:p>
          <a:p>
            <a:pPr lvl="0"/>
            <a:r>
              <a:rPr/>
              <a:t>distinguish the roles of the </a:t>
            </a:r>
            <a:r>
              <a:rPr b="1"/>
              <a:t>estimand</a:t>
            </a:r>
            <a:r>
              <a:rPr/>
              <a:t>, </a:t>
            </a:r>
            <a:r>
              <a:rPr b="1"/>
              <a:t>model</a:t>
            </a:r>
            <a:r>
              <a:rPr/>
              <a:t>, </a:t>
            </a:r>
            <a:r>
              <a:rPr b="1"/>
              <a:t>test statistic</a:t>
            </a:r>
            <a:r>
              <a:rPr/>
              <a:t>, </a:t>
            </a:r>
            <a:r>
              <a:rPr b="1"/>
              <a:t>uncertainty</a:t>
            </a:r>
            <a:r>
              <a:rPr/>
              <a:t>, and </a:t>
            </a:r>
            <a:r>
              <a:rPr b="1"/>
              <a:t>p-value</a:t>
            </a:r>
          </a:p>
          <a:p>
            <a:pPr lvl="0"/>
            <a:r>
              <a:rPr/>
              <a:t>identify when a mean difference, difference in proportions, odds ratio, or rate ratio is the primary target</a:t>
            </a:r>
          </a:p>
          <a:p>
            <a:pPr lvl="0"/>
            <a:r>
              <a:rPr/>
              <a:t>interpret the p-value in context without treating it as the whole analysis</a:t>
            </a:r>
          </a:p>
          <a:p>
            <a:pPr lvl="0"/>
            <a:r>
              <a:rPr/>
              <a:t>explain why effect size should be interpreted first, uncertainty second, and the p-value last</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Transition from Statistical Foundations to Hypothesis Testing</a:t>
            </a:r>
          </a:p>
          <a:p>
            <a:pPr lvl="0"/>
            <a:r>
              <a:rPr/>
              <a:t>hypothesis testing builds on the concepts developed in earlier lectures by integrating sample summaries, probability models, sampling variability, standard errors, and confidence intervals into a formal inferential procedure</a:t>
            </a:r>
          </a:p>
          <a:p>
            <a:pPr lvl="0" indent="0" marL="0">
              <a:buNone/>
            </a:pPr>
            <a:r>
              <a:rPr/>
              <a:t>As a review:</a:t>
            </a:r>
          </a:p>
          <a:p>
            <a:pPr lvl="0"/>
            <a:r>
              <a:rPr>
                <a:latin typeface="Courier"/>
              </a:rPr>
              <a:t>descriptive statistics</a:t>
            </a:r>
            <a:r>
              <a:rPr/>
              <a:t> summarize observed data through quantities such as sample means, proportions, and measures of variability</a:t>
            </a:r>
          </a:p>
          <a:p>
            <a:pPr lvl="0"/>
            <a:r>
              <a:rPr>
                <a:latin typeface="Courier"/>
              </a:rPr>
              <a:t>probability models</a:t>
            </a:r>
            <a:r>
              <a:rPr/>
              <a:t> characterize the behavior of data under specified assumptions about the population or data-generating process</a:t>
            </a:r>
          </a:p>
          <a:p>
            <a:pPr lvl="0"/>
            <a:r>
              <a:rPr>
                <a:latin typeface="Courier"/>
              </a:rPr>
              <a:t>sampling distributions</a:t>
            </a:r>
            <a:r>
              <a:rPr/>
              <a:t> provide the theoretical basis for understanding variability in sample-based estimates across repeated studies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Transition from Statistical Foundations to Hypothesis Testing</a:t>
            </a:r>
          </a:p>
          <a:p>
            <a:pPr lvl="0"/>
            <a:r>
              <a:rPr/>
              <a:t>hypothesis testing builds on the concepts developed in earlier lectures by integrating sample summaries, probability models, sampling variability, standard errors, and confidence intervals into a formal inferential procedure</a:t>
            </a:r>
          </a:p>
          <a:p>
            <a:pPr lvl="0" indent="0" marL="0">
              <a:buNone/>
            </a:pPr>
            <a:r>
              <a:rPr/>
              <a:t>As a review:</a:t>
            </a:r>
          </a:p>
          <a:p>
            <a:pPr lvl="0"/>
            <a:r>
              <a:rPr>
                <a:latin typeface="Courier"/>
              </a:rPr>
              <a:t>estimation procedures</a:t>
            </a:r>
            <a:r>
              <a:rPr/>
              <a:t> yield point estimates and corresponding standard errors for population parameters</a:t>
            </a:r>
          </a:p>
          <a:p>
            <a:pPr lvl="0"/>
            <a:r>
              <a:rPr>
                <a:latin typeface="Courier"/>
              </a:rPr>
              <a:t>confidence intervals</a:t>
            </a:r>
            <a:r>
              <a:rPr/>
              <a:t> quantify statistical uncertainty and define ranges of parameter values supported by the observed data</a:t>
            </a:r>
          </a:p>
          <a:p>
            <a:pPr lvl="0"/>
            <a:r>
              <a:rPr>
                <a:latin typeface="Courier"/>
              </a:rPr>
              <a:t>hypothesis testing</a:t>
            </a:r>
            <a:r>
              <a:rPr/>
              <a:t> uses these components to formally evaluate whether the observed data are compatible with a null hypothesis regarding a population parameter</a:t>
            </a:r>
          </a:p>
          <a:p>
            <a:pPr lvl="0" indent="0" marL="0">
              <a:buNone/>
            </a:pPr>
            <a:r>
              <a:rPr/>
              <a:t>Approaches allow researchers to determine whether an observed treatment effect, biomarker association, or group difference is larger than would reasonably be expected from random sampling variability alone under a null hypothesis of no effect or no association</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Why This Matters in Biomedical Data Science</a:t>
            </a:r>
          </a:p>
        </p:txBody>
      </p:sp>
      <p:sp>
        <p:nvSpPr>
          <p:cNvPr id="3" name="Content Placeholder 2"/>
          <p:cNvSpPr>
            <a:spLocks noGrp="1"/>
          </p:cNvSpPr>
          <p:nvPr>
            <p:ph idx="1"/>
          </p:nvPr>
        </p:nvSpPr>
        <p:spPr/>
        <p:txBody>
          <a:bodyPr/>
          <a:lstStyle/>
          <a:p>
            <a:pPr lvl="0" indent="0" marL="0">
              <a:buNone/>
            </a:pPr>
            <a:r>
              <a:rPr/>
              <a:t>hypothesis tests provide a way to compare observations with what would be expected under a null assumption</a:t>
            </a:r>
          </a:p>
          <a:p>
            <a:pPr lvl="0" indent="0" marL="0">
              <a:buNone/>
            </a:pPr>
            <a:r>
              <a:rPr/>
              <a:t>Analysts are often asked to evaluate whether a signal is statistically meaningful</a:t>
            </a:r>
          </a:p>
          <a:p>
            <a:pPr lvl="0" indent="0" marL="0">
              <a:buNone/>
            </a:pPr>
            <a:r>
              <a:rPr/>
              <a:t>Examples include:</a:t>
            </a:r>
          </a:p>
          <a:p>
            <a:pPr lvl="0"/>
            <a:r>
              <a:rPr/>
              <a:t>whether a biomarker is associated with tumor response</a:t>
            </a:r>
          </a:p>
          <a:p>
            <a:pPr lvl="0"/>
            <a:r>
              <a:rPr/>
              <a:t>whether a patient subgroup has a different response probability</a:t>
            </a:r>
          </a:p>
          <a:p>
            <a:pPr lvl="0"/>
            <a:r>
              <a:rPr/>
              <a:t>whether tumor burden changes after therapy</a:t>
            </a:r>
          </a:p>
          <a:p>
            <a:pPr lvl="0"/>
            <a:r>
              <a:rPr/>
              <a:t>whether a clinical feature is associated with progression risk</a:t>
            </a:r>
          </a:p>
          <a:p>
            <a:pPr lvl="0"/>
            <a:r>
              <a:rPr/>
              <a:t>whether a model term improves explanation of an outcome</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Hypothesis Test : Definition</a:t>
                </a:r>
              </a:p>
              <a:p>
                <a:pPr lvl="0" indent="0" marL="0">
                  <a:buNone/>
                </a:pPr>
                <a:r>
                  <a:rPr b="1"/>
                  <a:t>hypothesis test</a:t>
                </a:r>
                <a:r>
                  <a:rPr/>
                  <a:t> is defined as:</a:t>
                </a:r>
              </a:p>
              <a:p>
                <a:pPr lvl="0" indent="0" marL="1270000">
                  <a:buNone/>
                </a:pPr>
                <a:r>
                  <a:rPr sz="2000"/>
                  <a:t>a method that uses sample data to decide between two competing claims [hypotheses] about a population characteristic</a:t>
                </a:r>
              </a:p>
              <a:p>
                <a:pPr lvl="0" indent="0" marL="0">
                  <a:buNone/>
                </a:pPr>
                <a:r>
                  <a:rPr/>
                  <a:t>Where:</a:t>
                </a:r>
              </a:p>
              <a:p>
                <a:pPr lvl="0" indent="0" marL="0">
                  <a:buNone/>
                </a:pPr>
                <a:r>
                  <a:rPr/>
                  <a:t>The null hypothesis represents the default population claim and the alternative hypothesis represents the competing scientific claim evaluated using the data</a:t>
                </a:r>
              </a:p>
              <a:p>
                <a:pPr lvl="0" indent="0" marL="0">
                  <a:buNone/>
                </a:pPr>
                <a:r>
                  <a:rPr b="1"/>
                  <a:t>Null hypothesis </a:t>
                </a:r>
                <a14:m>
                  <m:oMath xmlns:m="http://schemas.openxmlformats.org/officeDocument/2006/math">
                    <m:sSub>
                      <m:e>
                        <m:r>
                          <m:t>H</m:t>
                        </m:r>
                      </m:e>
                      <m:sub>
                        <m:r>
                          <m:t>0</m:t>
                        </m:r>
                      </m:sub>
                    </m:sSub>
                  </m:oMath>
                </a14:m>
              </a:p>
              <a:p>
                <a:pPr lvl="0"/>
                <a:r>
                  <a:rPr/>
                  <a:t>claim about a population characteristic that is initially assumed to be true</a:t>
                </a:r>
                <a:br/>
              </a:p>
              <a:p>
                <a:pPr lvl="0"/>
                <a:r>
                  <a:rPr/>
                  <a:t>serves as the reference point for evaluating evidence</a:t>
                </a:r>
              </a:p>
              <a:p>
                <a:pPr lvl="0" indent="0" marL="0">
                  <a:buNone/>
                </a:pPr>
                <a:r>
                  <a:rPr b="1"/>
                  <a:t>Alternative hypothesis </a:t>
                </a:r>
                <a14:m>
                  <m:oMath xmlns:m="http://schemas.openxmlformats.org/officeDocument/2006/math">
                    <m:sSub>
                      <m:e>
                        <m:r>
                          <m:t>H</m:t>
                        </m:r>
                      </m:e>
                      <m:sub>
                        <m:r>
                          <m:t>A</m:t>
                        </m:r>
                      </m:sub>
                    </m:sSub>
                  </m:oMath>
                </a14:m>
              </a:p>
              <a:p>
                <a:pPr lvl="0"/>
                <a:r>
                  <a:rPr/>
                  <a:t>competing claim about the same population characteristic</a:t>
                </a:r>
                <a:br/>
              </a:p>
              <a:p>
                <a:pPr lvl="0"/>
                <a:r>
                  <a:rPr/>
                  <a:t>represents the type of difference or association the study is designed to detect</a:t>
                </a:r>
              </a:p>
            </p:txBody>
          </p:sp>
        </mc:Choice>
      </mc:AlternateContent>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Hypothesis Testing: A Stepwise Approach</a:t>
                </a:r>
              </a:p>
              <a:p>
                <a:pPr lvl="0" indent="0" marL="0">
                  <a:buNone/>
                </a:pPr>
                <a:r>
                  <a:rPr b="1"/>
                  <a:t>Statement of the Problem</a:t>
                </a:r>
              </a:p>
              <a:p>
                <a:pPr lvl="0" indent="-342900" marL="342900">
                  <a:buAutoNum type="arabicPeriod"/>
                </a:pPr>
                <a:r>
                  <a:rPr/>
                  <a:t>Describe the population characteristic of interest</a:t>
                </a:r>
              </a:p>
              <a:p>
                <a:pPr lvl="0" indent="-342900" marL="342900">
                  <a:buAutoNum type="arabicPeriod"/>
                </a:pPr>
                <a:r>
                  <a:rPr/>
                  <a:t>State the null hypothesis, </a:t>
                </a:r>
                <a14:m>
                  <m:oMath xmlns:m="http://schemas.openxmlformats.org/officeDocument/2006/math">
                    <m:sSub>
                      <m:e>
                        <m:r>
                          <m:t>H</m:t>
                        </m:r>
                      </m:e>
                      <m:sub>
                        <m:r>
                          <m:t>0</m:t>
                        </m:r>
                      </m:sub>
                    </m:sSub>
                  </m:oMath>
                </a14:m>
              </a:p>
              <a:p>
                <a:pPr lvl="0" indent="-342900" marL="342900">
                  <a:buAutoNum type="arabicPeriod"/>
                </a:pPr>
                <a:r>
                  <a:rPr/>
                  <a:t>State the alternative hypothesis, </a:t>
                </a:r>
                <a14:m>
                  <m:oMath xmlns:m="http://schemas.openxmlformats.org/officeDocument/2006/math">
                    <m:sSub>
                      <m:e>
                        <m:r>
                          <m:t>H</m:t>
                        </m:r>
                      </m:e>
                      <m:sub>
                        <m:r>
                          <m:t>A</m:t>
                        </m:r>
                      </m:sub>
                    </m:sSub>
                  </m:oMath>
                </a14:m>
              </a:p>
              <a:p>
                <a:pPr lvl="0" indent="-342900" marL="342900">
                  <a:buAutoNum type="arabicPeriod"/>
                </a:pPr>
                <a:r>
                  <a:rPr/>
                  <a:t>Select the significance level, </a:t>
                </a:r>
                <a14:m>
                  <m:oMath xmlns:m="http://schemas.openxmlformats.org/officeDocument/2006/math">
                    <m:r>
                      <m:t>α</m:t>
                    </m:r>
                  </m:oMath>
                </a14:m>
              </a:p>
              <a:p>
                <a:pPr lvl="0" indent="0" marL="0">
                  <a:buNone/>
                </a:pPr>
                <a:r>
                  <a:rPr b="1"/>
                  <a:t>Analysis</a:t>
                </a:r>
              </a:p>
              <a:p>
                <a:pPr lvl="0" indent="-342900" marL="342900">
                  <a:buAutoNum startAt="5" type="arabicPeriod"/>
                </a:pPr>
                <a:r>
                  <a:rPr/>
                  <a:t>Display the test statistic, with the hypothesized value from </a:t>
                </a:r>
                <a14:m>
                  <m:oMath xmlns:m="http://schemas.openxmlformats.org/officeDocument/2006/math">
                    <m:sSub>
                      <m:e>
                        <m:r>
                          <m:t>H</m:t>
                        </m:r>
                      </m:e>
                      <m:sub>
                        <m:r>
                          <m:t>0</m:t>
                        </m:r>
                      </m:sub>
                    </m:sSub>
                  </m:oMath>
                </a14:m>
                <a:r>
                  <a:rPr/>
                  <a:t> substituted into the formula</a:t>
                </a:r>
              </a:p>
              <a:p>
                <a:pPr lvl="0" indent="-342900" marL="342900">
                  <a:buAutoNum startAt="5" type="arabicPeriod"/>
                </a:pPr>
                <a:r>
                  <a:rPr/>
                  <a:t>Check that required assumptions are reasonable</a:t>
                </a:r>
              </a:p>
              <a:p>
                <a:pPr lvl="0" indent="-342900" marL="342900">
                  <a:buAutoNum startAt="5" type="arabicPeriod"/>
                </a:pPr>
                <a:r>
                  <a:rPr/>
                  <a:t>Calculate all quantities in the test statistic and calculate the test statistic itself</a:t>
                </a:r>
              </a:p>
              <a:p>
                <a:pPr lvl="0" indent="-342900" marL="342900">
                  <a:buAutoNum startAt="5" type="arabicPeriod"/>
                </a:pPr>
                <a:r>
                  <a:rPr/>
                  <a:t>Determine the p-value associated with the observed test statistic</a:t>
                </a:r>
              </a:p>
              <a:p>
                <a:pPr lvl="0" indent="0" marL="0">
                  <a:buNone/>
                </a:pPr>
                <a:r>
                  <a:rPr b="1"/>
                  <a:t>Conclusion</a:t>
                </a:r>
              </a:p>
              <a:p>
                <a:pPr lvl="0" indent="-342900" marL="342900">
                  <a:buAutoNum startAt="9" type="arabicPeriod"/>
                </a:pPr>
                <a:r>
                  <a:rPr/>
                  <a:t>State the conclusion: reject </a:t>
                </a:r>
                <a14:m>
                  <m:oMath xmlns:m="http://schemas.openxmlformats.org/officeDocument/2006/math">
                    <m:sSub>
                      <m:e>
                        <m:r>
                          <m:t>H</m:t>
                        </m:r>
                      </m:e>
                      <m:sub>
                        <m:r>
                          <m:t>0</m:t>
                        </m:r>
                      </m:sub>
                    </m:sSub>
                  </m:oMath>
                </a14:m>
                <a:r>
                  <a:rPr/>
                  <a:t> if p-value </a:t>
                </a:r>
                <a14:m>
                  <m:oMath xmlns:m="http://schemas.openxmlformats.org/officeDocument/2006/math">
                    <m:r>
                      <m:rPr>
                        <m:sty m:val="p"/>
                      </m:rPr>
                      <m:t>≤</m:t>
                    </m:r>
                    <m:r>
                      <m:t>α</m:t>
                    </m:r>
                  </m:oMath>
                </a14:m>
                <a:r>
                  <a:rPr/>
                  <a:t>, and fail to reject </a:t>
                </a:r>
                <a14:m>
                  <m:oMath xmlns:m="http://schemas.openxmlformats.org/officeDocument/2006/math">
                    <m:sSub>
                      <m:e>
                        <m:r>
                          <m:t>H</m:t>
                        </m:r>
                      </m:e>
                      <m:sub>
                        <m:r>
                          <m:t>0</m:t>
                        </m:r>
                      </m:sub>
                    </m:sSub>
                  </m:oMath>
                </a14:m>
                <a:r>
                  <a:rPr/>
                  <a:t> otherwise. Then state the conclusion in the context of the problem, including the significance level.</a:t>
                </a:r>
              </a:p>
            </p:txBody>
          </p:sp>
        </mc:Choice>
      </mc:AlternateContent>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Hypothesis Testing: An Oncology Example</a:t>
            </a:r>
          </a:p>
          <a:p>
            <a:pPr lvl="0" indent="0" marL="0">
              <a:buNone/>
            </a:pPr>
            <a:r>
              <a:rPr/>
              <a:t>Hypothesis testing evaluates whether observed sample evidence supports or contradicts a proposed explanation about a population</a:t>
            </a:r>
          </a:p>
          <a:p>
            <a:pPr lvl="0" indent="0" marL="0">
              <a:buNone/>
            </a:pPr>
            <a:r>
              <a:rPr/>
              <a:t>Primary question:</a:t>
            </a:r>
          </a:p>
          <a:p>
            <a:pPr lvl="0" indent="0" marL="1270000">
              <a:buNone/>
            </a:pPr>
            <a:r>
              <a:rPr sz="2000"/>
              <a:t>Is the probability of tumor response to therapy higher among patients with a targeted biomarker than among patients without the biomarker?</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Describe the Population Characteristic of Interest</a:t>
                </a:r>
              </a:p>
              <a:p>
                <a:pPr lvl="0" indent="0" marL="0">
                  <a:buNone/>
                </a:pPr>
                <a:r>
                  <a:rPr b="1"/>
                  <a:t>Step 1</a:t>
                </a:r>
                <a:r>
                  <a:rPr/>
                  <a:t>: Describe the population characteristic</a:t>
                </a:r>
              </a:p>
              <a:p>
                <a:pPr lvl="0" indent="0" marL="0">
                  <a:buNone/>
                </a:pPr>
                <a:r>
                  <a:rPr>
                    <a:latin typeface="Courier"/>
                  </a:rPr>
                  <a:t>population characteristic</a:t>
                </a:r>
                <a:r>
                  <a:rPr/>
                  <a:t>: unknown population-level quantity the hypothesis test is designed to evaluate</a:t>
                </a:r>
              </a:p>
              <a:p>
                <a:pPr lvl="0" indent="0" marL="0">
                  <a:buNone/>
                </a:pPr>
                <a:r>
                  <a:rPr/>
                  <a:t>Example:</a:t>
                </a:r>
              </a:p>
              <a:p>
                <a:pPr lvl="0" indent="0" marL="0">
                  <a:buNone/>
                </a:pPr>
                <a14:m>
                  <m:oMathPara xmlns:m="http://schemas.openxmlformats.org/officeDocument/2006/math">
                    <m:oMathParaPr>
                      <m:jc m:val="center"/>
                    </m:oMathParaPr>
                    <m:oMath>
                      <m:r>
                        <m:t>p</m:t>
                      </m:r>
                      <m:r>
                        <m:rPr>
                          <m:sty m:val="p"/>
                        </m:rPr>
                        <m:t>=</m:t>
                      </m:r>
                      <m:r>
                        <m:rPr>
                          <m:nor/>
                          <m:sty m:val="p"/>
                        </m:rPr>
                        <m:t>population probability of tumor reduction</m:t>
                      </m:r>
                    </m:oMath>
                  </m:oMathPara>
                </a14:m>
              </a:p>
            </p:txBody>
          </p:sp>
        </mc:Choice>
      </mc:AlternateContent>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State the Null and Alternative Hypothesis</a:t>
                </a:r>
              </a:p>
              <a:p>
                <a:pPr lvl="0" indent="0" marL="0">
                  <a:buNone/>
                </a:pPr>
                <a:r>
                  <a:rPr b="1"/>
                  <a:t>Step 2</a:t>
                </a:r>
                <a:r>
                  <a:rPr/>
                  <a:t>: State the null hypothesis </a:t>
                </a:r>
                <a14:m>
                  <m:oMath xmlns:m="http://schemas.openxmlformats.org/officeDocument/2006/math">
                    <m:sSub>
                      <m:e>
                        <m:r>
                          <m:t>H</m:t>
                        </m:r>
                      </m:e>
                      <m:sub>
                        <m:r>
                          <m:t>0</m:t>
                        </m:r>
                      </m:sub>
                    </m:sSub>
                  </m:oMath>
                </a14:m>
              </a:p>
              <a:p>
                <a:pPr lvl="0" indent="0" marL="0">
                  <a:buNone/>
                </a:pPr>
                <a:r>
                  <a:rPr b="1"/>
                  <a:t>null hypothesis </a:t>
                </a:r>
                <a14:m>
                  <m:oMath xmlns:m="http://schemas.openxmlformats.org/officeDocument/2006/math">
                    <m:sSub>
                      <m:e>
                        <m:r>
                          <m:t>H</m:t>
                        </m:r>
                      </m:e>
                      <m:sub>
                        <m:r>
                          <m:t>0</m:t>
                        </m:r>
                      </m:sub>
                    </m:sSub>
                  </m:oMath>
                </a14:m>
                <a:r>
                  <a:rPr/>
                  <a:t>: claim about a population characteristic that is initially assumed to be true</a:t>
                </a:r>
              </a:p>
              <a:p>
                <a:pPr lvl="0"/>
                <a:r>
                  <a:rPr/>
                  <a:t>provides the baseline explanation for the observed data</a:t>
                </a:r>
              </a:p>
              <a:p>
                <a:pPr lvl="0"/>
                <a:r>
                  <a:rPr/>
                  <a:t>serves as the reference model against which the observed data are evaluated</a:t>
                </a:r>
              </a:p>
              <a:p>
                <a:pPr lvl="0" indent="0" marL="0">
                  <a:buNone/>
                </a:pPr>
                <a14:m>
                  <m:oMathPara xmlns:m="http://schemas.openxmlformats.org/officeDocument/2006/math">
                    <m:oMathParaPr>
                      <m:jc m:val="center"/>
                    </m:oMathParaPr>
                    <m:oMath>
                      <m:sSub>
                        <m:e>
                          <m:r>
                            <m:t>H</m:t>
                          </m:r>
                        </m:e>
                        <m:sub>
                          <m:r>
                            <m:t>0</m:t>
                          </m:r>
                        </m:sub>
                      </m:sSub>
                      <m:r>
                        <m:rPr>
                          <m:sty m:val="p"/>
                        </m:rPr>
                        <m:t>:</m:t>
                      </m:r>
                      <m:r>
                        <m:t>p</m:t>
                      </m:r>
                      <m:r>
                        <m:rPr>
                          <m:sty m:val="p"/>
                        </m:rPr>
                        <m:t>=</m:t>
                      </m:r>
                      <m:r>
                        <m:t>0.5</m:t>
                      </m:r>
                    </m:oMath>
                  </m:oMathPara>
                </a14:m>
              </a:p>
              <a:p>
                <a:pPr lvl="0"/>
                <a:r>
                  <a:rPr/>
                  <a:t>probability of tumor response equals 50%</a:t>
                </a:r>
              </a:p>
            </p:txBody>
          </p:sp>
        </mc:Choice>
      </mc:AlternateContent>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State the Null and Alternative Hypothesis</a:t>
                </a:r>
              </a:p>
              <a:p>
                <a:pPr lvl="0" indent="0" marL="0">
                  <a:buNone/>
                </a:pPr>
                <a:r>
                  <a:rPr b="1"/>
                  <a:t>Step 3</a:t>
                </a:r>
                <a:r>
                  <a:rPr/>
                  <a:t>: State the alternative hypothesis </a:t>
                </a:r>
                <a14:m>
                  <m:oMath xmlns:m="http://schemas.openxmlformats.org/officeDocument/2006/math">
                    <m:sSub>
                      <m:e>
                        <m:r>
                          <m:t>H</m:t>
                        </m:r>
                      </m:e>
                      <m:sub>
                        <m:r>
                          <m:t>A</m:t>
                        </m:r>
                      </m:sub>
                    </m:sSub>
                  </m:oMath>
                </a14:m>
              </a:p>
              <a:p>
                <a:pPr lvl="0" indent="0" marL="0">
                  <a:buNone/>
                </a:pPr>
                <a:r>
                  <a:rPr b="1"/>
                  <a:t>alternative hypothesis </a:t>
                </a:r>
                <a14:m>
                  <m:oMath xmlns:m="http://schemas.openxmlformats.org/officeDocument/2006/math">
                    <m:sSub>
                      <m:e>
                        <m:r>
                          <m:t>H</m:t>
                        </m:r>
                      </m:e>
                      <m:sub>
                        <m:r>
                          <m:t>A</m:t>
                        </m:r>
                      </m:sub>
                    </m:sSub>
                  </m:oMath>
                </a14:m>
                <a:r>
                  <a:rPr/>
                  <a:t>: competing claim suggesting the population characteristic differs from the null hypothesis</a:t>
                </a:r>
              </a:p>
              <a:p>
                <a:pPr lvl="0" indent="0" marL="0">
                  <a:buNone/>
                </a:pPr>
                <a:r>
                  <a:rPr/>
                  <a:t>different forms of the alternative hypothesis reflect different scientific questions about the population parameter and determine whether statistical evidence is evaluated in one direction or in both directions relative to the null hypothesis value</a:t>
                </a:r>
              </a:p>
              <a:p>
                <a:pPr lvl="0" indent="0" marL="0">
                  <a:buNone/>
                </a:pPr>
                <a:r>
                  <a:rPr/>
                  <a:t>Two-Sided Alternative Hypothesis</a:t>
                </a:r>
              </a:p>
              <a:p>
                <a:pPr lvl="0" indent="0" marL="0">
                  <a:buNone/>
                </a:pPr>
                <a14:m>
                  <m:oMathPara xmlns:m="http://schemas.openxmlformats.org/officeDocument/2006/math">
                    <m:oMathParaPr>
                      <m:jc m:val="center"/>
                    </m:oMathParaPr>
                    <m:oMath>
                      <m:sSub>
                        <m:e>
                          <m:r>
                            <m:t>H</m:t>
                          </m:r>
                        </m:e>
                        <m:sub>
                          <m:r>
                            <m:t>A</m:t>
                          </m:r>
                        </m:sub>
                      </m:sSub>
                      <m:r>
                        <m:rPr>
                          <m:sty m:val="p"/>
                        </m:rPr>
                        <m:t>:</m:t>
                      </m:r>
                      <m:r>
                        <m:t>p</m:t>
                      </m:r>
                      <m:r>
                        <m:rPr>
                          <m:sty m:val="p"/>
                        </m:rPr>
                        <m:t>≠</m:t>
                      </m:r>
                      <m:r>
                        <m:t>0.50</m:t>
                      </m:r>
                    </m:oMath>
                  </m:oMathPara>
                </a14:m>
              </a:p>
              <a:p>
                <a:pPr lvl="0"/>
                <a:r>
                  <a:rPr/>
                  <a:t>Asks: Is the population response probability different from 50%?</a:t>
                </a:r>
              </a:p>
              <a:p>
                <a:pPr lvl="0"/>
                <a:r>
                  <a:rPr/>
                  <a:t>asks whether the true response probability is different from 50% in either direction</a:t>
                </a:r>
              </a:p>
              <a:p>
                <a:pPr lvl="0"/>
                <a:r>
                  <a:rPr/>
                  <a:t>both higher and lower response probabilities count as evidence against H_0</a:t>
                </a:r>
              </a:p>
              <a:p>
                <a:pPr lvl="0" indent="0" marL="0">
                  <a:buNone/>
                </a:pPr>
                <a:r>
                  <a:rPr/>
                  <a:t>One-Sided Alternative Hypothesis</a:t>
                </a:r>
              </a:p>
              <a:p>
                <a:pPr lvl="0" indent="0" marL="0">
                  <a:buNone/>
                </a:pPr>
                <a14:m>
                  <m:oMathPara xmlns:m="http://schemas.openxmlformats.org/officeDocument/2006/math">
                    <m:oMathParaPr>
                      <m:jc m:val="center"/>
                    </m:oMathParaPr>
                    <m:oMath>
                      <m:sSub>
                        <m:e>
                          <m:r>
                            <m:t>H</m:t>
                          </m:r>
                        </m:e>
                        <m:sub>
                          <m:r>
                            <m:t>A</m:t>
                          </m:r>
                        </m:sub>
                      </m:sSub>
                      <m:r>
                        <m:rPr>
                          <m:sty m:val="p"/>
                        </m:rPr>
                        <m:t>:</m:t>
                      </m:r>
                      <m:r>
                        <m:t>p</m:t>
                      </m:r>
                      <m:r>
                        <m:rPr>
                          <m:sty m:val="p"/>
                        </m:rPr>
                        <m:t>&gt;</m:t>
                      </m:r>
                      <m:r>
                        <m:t>0.50</m:t>
                      </m:r>
                    </m:oMath>
                  </m:oMathPara>
                </a14:m>
              </a:p>
              <a:p>
                <a:pPr lvl="0"/>
                <a:r>
                  <a:rPr/>
                  <a:t>Asks: Does the biomarker improve response probability?</a:t>
                </a:r>
              </a:p>
              <a:p>
                <a:pPr lvl="0"/>
                <a:r>
                  <a:rPr/>
                  <a:t>asks whether the response probability is greater than 50%</a:t>
                </a:r>
              </a:p>
              <a:p>
                <a:pPr lvl="0"/>
                <a:r>
                  <a:rPr/>
                  <a:t>only increases count as evidence against </a:t>
                </a:r>
                <a14:m>
                  <m:oMath xmlns:m="http://schemas.openxmlformats.org/officeDocument/2006/math">
                    <m:sSub>
                      <m:e>
                        <m:r>
                          <m:t>H</m:t>
                        </m:r>
                      </m:e>
                      <m:sub>
                        <m:r>
                          <m:t>0</m:t>
                        </m:r>
                      </m:sub>
                    </m:sSub>
                  </m:oMath>
                </a14:m>
              </a:p>
              <a:p>
                <a:pPr lvl="0"/>
                <a:r>
                  <a:rPr/>
                  <a:t>Essentially: if the observed response probability were actually lower than 50% this would not support this alternative hypothesis</a:t>
                </a:r>
              </a:p>
            </p:txBody>
          </p:sp>
        </mc:Choice>
      </mc:AlternateContent>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Significance levels and Type I/II Errors</a:t>
                </a:r>
              </a:p>
              <a:p>
                <a:pPr lvl="0" indent="0" marL="0">
                  <a:buNone/>
                </a:pPr>
                <a:r>
                  <a:rPr b="1"/>
                  <a:t>4. Select Significance Level </a:t>
                </a:r>
                <a14:m>
                  <m:oMath xmlns:m="http://schemas.openxmlformats.org/officeDocument/2006/math">
                    <m:r>
                      <m:t>α</m:t>
                    </m:r>
                  </m:oMath>
                </a14:m>
              </a:p>
              <a:p>
                <a:pPr lvl="0" indent="0" marL="0">
                  <a:buNone/>
                </a:pPr>
                <a:r>
                  <a:rPr b="1"/>
                  <a:t>significance level </a:t>
                </a:r>
                <a14:m>
                  <m:oMath xmlns:m="http://schemas.openxmlformats.org/officeDocument/2006/math">
                    <m:r>
                      <m:t>a</m:t>
                    </m:r>
                    <m:r>
                      <m:t>l</m:t>
                    </m:r>
                    <m:r>
                      <m:t>p</m:t>
                    </m:r>
                    <m:r>
                      <m:t>h</m:t>
                    </m:r>
                    <m:r>
                      <m:t>a</m:t>
                    </m:r>
                  </m:oMath>
                </a14:m>
                <a:r>
                  <a:rPr/>
                  <a:t> : probability threshold used to define evidence strong enough to reject the null hypothesis</a:t>
                </a:r>
              </a:p>
              <a:p>
                <a:pPr lvl="0"/>
                <a:r>
                  <a:rPr/>
                  <a:t>smaller α → stricter evidence required</a:t>
                </a:r>
              </a:p>
              <a:p>
                <a:pPr lvl="0"/>
                <a:r>
                  <a:rPr/>
                  <a:t>larger α → easier to reject </a:t>
                </a:r>
                <a14:m>
                  <m:oMath xmlns:m="http://schemas.openxmlformats.org/officeDocument/2006/math">
                    <m:sSub>
                      <m:e>
                        <m:r>
                          <m:t>H</m:t>
                        </m:r>
                      </m:e>
                      <m:sub>
                        <m:r>
                          <m:t>0</m:t>
                        </m:r>
                      </m:sub>
                    </m:sSub>
                  </m:oMath>
                </a14:m>
              </a:p>
              <a:p>
                <a:pPr lvl="0" indent="0" marL="0">
                  <a:buNone/>
                </a:pPr>
                <a:r>
                  <a:rPr/>
                  <a:t>Hypothesis testing decisions can produce two major categories of statistical error:</a:t>
                </a:r>
              </a:p>
              <a:p>
                <a:pPr lvl="0"/>
                <a:r>
                  <a:rPr/>
                  <a:t>rejecting </a:t>
                </a:r>
                <a14:m>
                  <m:oMath xmlns:m="http://schemas.openxmlformats.org/officeDocument/2006/math">
                    <m:sSub>
                      <m:e>
                        <m:r>
                          <m:t>H</m:t>
                        </m:r>
                      </m:e>
                      <m:sub>
                        <m:r>
                          <m:t>0</m:t>
                        </m:r>
                      </m:sub>
                    </m:sSub>
                  </m:oMath>
                </a14:m>
                <a:r>
                  <a:rPr/>
                  <a:t> when it is actually true</a:t>
                </a:r>
              </a:p>
              <a:p>
                <a:pPr lvl="0"/>
                <a:r>
                  <a:rPr/>
                  <a:t>failing to reject </a:t>
                </a:r>
                <a14:m>
                  <m:oMath xmlns:m="http://schemas.openxmlformats.org/officeDocument/2006/math">
                    <m:sSub>
                      <m:e>
                        <m:r>
                          <m:t>H</m:t>
                        </m:r>
                      </m:e>
                      <m:sub>
                        <m:r>
                          <m:t>0</m:t>
                        </m:r>
                      </m:sub>
                    </m:sSub>
                  </m:oMath>
                </a14:m>
                <a:r>
                  <a:rPr/>
                  <a:t> when it is actually false</a:t>
                </a:r>
              </a:p>
              <a:p>
                <a:pPr lvl="0" indent="0" marL="0">
                  <a:buNone/>
                </a:pPr>
                <a:r>
                  <a:rPr b="1"/>
                  <a:t>Type I Error</a:t>
                </a:r>
                <a:r>
                  <a:rPr/>
                  <a:t>: error of rejecting </a:t>
                </a:r>
                <a14:m>
                  <m:oMath xmlns:m="http://schemas.openxmlformats.org/officeDocument/2006/math">
                    <m:sSub>
                      <m:e>
                        <m:r>
                          <m:t>H</m:t>
                        </m:r>
                      </m:e>
                      <m:sub>
                        <m:r>
                          <m:t>0</m:t>
                        </m:r>
                      </m:sub>
                    </m:sSub>
                  </m:oMath>
                </a14:m>
                <a:r>
                  <a:rPr/>
                  <a:t> when </a:t>
                </a:r>
                <a14:m>
                  <m:oMath xmlns:m="http://schemas.openxmlformats.org/officeDocument/2006/math">
                    <m:sSub>
                      <m:e>
                        <m:r>
                          <m:t>H</m:t>
                        </m:r>
                      </m:e>
                      <m:sub>
                        <m:r>
                          <m:t>0</m:t>
                        </m:r>
                      </m:sub>
                    </m:sSub>
                  </m:oMath>
                </a14:m>
                <a:r>
                  <a:rPr/>
                  <a:t> is true [</a:t>
                </a:r>
                <a14:m>
                  <m:oMath xmlns:m="http://schemas.openxmlformats.org/officeDocument/2006/math">
                    <m:r>
                      <m:rPr>
                        <m:sty m:val="p"/>
                      </m:rPr>
                      <m:t>←</m:t>
                    </m:r>
                  </m:oMath>
                </a14:m>
                <a:r>
                  <a:rPr/>
                  <a:t> significance levels controls this error probability]</a:t>
                </a:r>
              </a:p>
              <a:p>
                <a:pPr lvl="0"/>
                <a14:m>
                  <m:oMath xmlns:m="http://schemas.openxmlformats.org/officeDocument/2006/math">
                    <m:r>
                      <m:t>α</m:t>
                    </m:r>
                  </m:oMath>
                </a14:m>
                <a:r>
                  <a:rPr/>
                  <a:t>: probability of a Type I error</a:t>
                </a:r>
              </a:p>
              <a:p>
                <a:pPr lvl="0" indent="0" marL="0">
                  <a:buNone/>
                </a:pPr>
                <a:r>
                  <a:rPr/>
                  <a:t>e.x.: concluding that a biomarker is associated with response when it is not</a:t>
                </a:r>
              </a:p>
              <a:p>
                <a:pPr lvl="0" indent="0" marL="0">
                  <a:buNone/>
                </a:pPr>
                <a:r>
                  <a:rPr b="1"/>
                  <a:t>Type II Error</a:t>
                </a:r>
                <a:r>
                  <a:rPr/>
                  <a:t>: failing to reject the null hypothesis [</a:t>
                </a:r>
                <a14:m>
                  <m:oMath xmlns:m="http://schemas.openxmlformats.org/officeDocument/2006/math">
                    <m:sSub>
                      <m:e>
                        <m:r>
                          <m:t>H</m:t>
                        </m:r>
                      </m:e>
                      <m:sub>
                        <m:r>
                          <m:t>0</m:t>
                        </m:r>
                      </m:sub>
                    </m:sSub>
                  </m:oMath>
                </a14:m>
                <a:r>
                  <a:rPr/>
                  <a:t>] when the null hypothesis [</a:t>
                </a:r>
                <a14:m>
                  <m:oMath xmlns:m="http://schemas.openxmlformats.org/officeDocument/2006/math">
                    <m:sSub>
                      <m:e>
                        <m:r>
                          <m:t>H</m:t>
                        </m:r>
                      </m:e>
                      <m:sub>
                        <m:r>
                          <m:t>0</m:t>
                        </m:r>
                      </m:sub>
                    </m:sSub>
                  </m:oMath>
                </a14:m>
                <a:r>
                  <a:rPr/>
                  <a:t>] is actually false</a:t>
                </a:r>
              </a:p>
              <a:p>
                <a:pPr lvl="0"/>
                <a14:m>
                  <m:oMath xmlns:m="http://schemas.openxmlformats.org/officeDocument/2006/math">
                    <m:r>
                      <m:t>β</m:t>
                    </m:r>
                  </m:oMath>
                </a14:m>
                <a:r>
                  <a:rPr/>
                  <a:t> : probability of a Type II error</a:t>
                </a:r>
              </a:p>
              <a:p>
                <a:pPr lvl="0" indent="0" marL="0">
                  <a:buNone/>
                </a:pPr>
                <a:r>
                  <a:rPr/>
                  <a:t>e.x.: failing to detect a biologically meaningful signal</a:t>
                </a:r>
              </a:p>
            </p:txBody>
          </p:sp>
        </mc:Choice>
      </mc:AlternateContent>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Interpreting the Significance Level</a:t>
                </a:r>
              </a:p>
              <a:p>
                <a:pPr lvl="0" indent="0" marL="0">
                  <a:buNone/>
                </a:pPr>
                <a:r>
                  <a:rPr/>
                  <a:t>Choosing </a:t>
                </a:r>
                <a14:m>
                  <m:oMath xmlns:m="http://schemas.openxmlformats.org/officeDocument/2006/math">
                    <m:r>
                      <m:t>α</m:t>
                    </m:r>
                  </m:oMath>
                </a14:m>
                <a:r>
                  <a:rPr/>
                  <a:t> reflects how much risk of a Type I error is acceptable given the scientific question</a:t>
                </a:r>
              </a:p>
              <a:p>
                <a:pPr lvl="0" indent="0" marL="0">
                  <a:buNone/>
                </a:pPr>
                <a:r>
                  <a:rPr/>
                  <a:t>Common thresholds for </a:t>
                </a:r>
                <a14:m>
                  <m:oMath xmlns:m="http://schemas.openxmlformats.org/officeDocument/2006/math">
                    <m:r>
                      <m:t>α</m:t>
                    </m:r>
                  </m:oMath>
                </a14:m>
                <a:r>
                  <a:rPr/>
                  <a:t>:</a:t>
                </a:r>
              </a:p>
              <a:p>
                <a:pPr lvl="0"/>
                <a:r>
                  <a:rPr/>
                  <a:t>α=0.05</a:t>
                </a:r>
              </a:p>
              <a:p>
                <a:pPr lvl="0"/>
                <a:r>
                  <a:rPr/>
                  <a:t>α=0.01</a:t>
                </a:r>
              </a:p>
              <a:p>
                <a:pPr lvl="0" indent="0" marL="0">
                  <a:buNone/>
                </a:pPr>
                <a:r>
                  <a:rPr/>
                  <a:t>If </a:t>
                </a:r>
                <a14:m>
                  <m:oMath xmlns:m="http://schemas.openxmlformats.org/officeDocument/2006/math">
                    <m:r>
                      <m:t>α</m:t>
                    </m:r>
                    <m:r>
                      <m:rPr>
                        <m:sty m:val="p"/>
                      </m:rPr>
                      <m:t>=</m:t>
                    </m:r>
                    <m:r>
                      <m:t>0.05</m:t>
                    </m:r>
                  </m:oMath>
                </a14:m>
                <a:r>
                  <a:rPr/>
                  <a:t>:</a:t>
                </a:r>
              </a:p>
              <a:p>
                <a:pPr lvl="0"/>
                <a:r>
                  <a:rPr/>
                  <a:t>reject </a:t>
                </a:r>
                <a14:m>
                  <m:oMath xmlns:m="http://schemas.openxmlformats.org/officeDocument/2006/math">
                    <m:sSub>
                      <m:e>
                        <m:r>
                          <m:t>H</m:t>
                        </m:r>
                      </m:e>
                      <m:sub>
                        <m:r>
                          <m:t>0</m:t>
                        </m:r>
                      </m:sub>
                    </m:sSub>
                  </m:oMath>
                </a14:m>
                <a:r>
                  <a:rPr/>
                  <a:t> if p-value &lt; 0.05 : statistical significance</a:t>
                </a:r>
              </a:p>
              <a:p>
                <a:pPr lvl="0"/>
                <a:r>
                  <a:rPr/>
                  <a:t>in repeated testing when </a:t>
                </a:r>
                <a14:m>
                  <m:oMath xmlns:m="http://schemas.openxmlformats.org/officeDocument/2006/math">
                    <m:sSub>
                      <m:e>
                        <m:r>
                          <m:t>H</m:t>
                        </m:r>
                      </m:e>
                      <m:sub>
                        <m:r>
                          <m:t>0</m:t>
                        </m:r>
                      </m:sub>
                    </m:sSub>
                  </m:oMath>
                </a14:m>
                <a:r>
                  <a:rPr/>
                  <a:t> is true about 5% of tests will incorrectly reject </a:t>
                </a:r>
                <a14:m>
                  <m:oMath xmlns:m="http://schemas.openxmlformats.org/officeDocument/2006/math">
                    <m:sSub>
                      <m:e>
                        <m:r>
                          <m:t>H</m:t>
                        </m:r>
                      </m:e>
                      <m:sub>
                        <m:r>
                          <m:t>0</m:t>
                        </m:r>
                      </m:sub>
                    </m:sSub>
                  </m:oMath>
                </a14:m>
              </a:p>
              <a:p>
                <a:pPr lvl="0"/>
                <a:r>
                  <a:rPr/>
                  <a:t>5% probability of falsely concluding that an effect exists when the null hypothesis is true</a:t>
                </a:r>
              </a:p>
              <a:p>
                <a:pPr lvl="0" indent="0" marL="0">
                  <a:buNone/>
                </a:pPr>
                <a:r>
                  <a:rPr/>
                  <a:t>If </a:t>
                </a:r>
                <a14:m>
                  <m:oMath xmlns:m="http://schemas.openxmlformats.org/officeDocument/2006/math">
                    <m:r>
                      <m:t>α</m:t>
                    </m:r>
                    <m:r>
                      <m:rPr>
                        <m:sty m:val="p"/>
                      </m:rPr>
                      <m:t>=</m:t>
                    </m:r>
                    <m:r>
                      <m:t>0.01</m:t>
                    </m:r>
                  </m:oMath>
                </a14:m>
                <a:r>
                  <a:rPr/>
                  <a:t>:</a:t>
                </a:r>
              </a:p>
              <a:p>
                <a:pPr lvl="0"/>
                <a:r>
                  <a:rPr/>
                  <a:t>reject </a:t>
                </a:r>
                <a14:m>
                  <m:oMath xmlns:m="http://schemas.openxmlformats.org/officeDocument/2006/math">
                    <m:sSub>
                      <m:e>
                        <m:r>
                          <m:t>H</m:t>
                        </m:r>
                      </m:e>
                      <m:sub>
                        <m:r>
                          <m:t>0</m:t>
                        </m:r>
                      </m:sub>
                    </m:sSub>
                  </m:oMath>
                </a14:m>
                <a:r>
                  <a:rPr/>
                  <a:t> if p-value &lt; 0.01 : statistical significance</a:t>
                </a:r>
              </a:p>
              <a:p>
                <a:pPr lvl="0"/>
                <a:r>
                  <a:rPr/>
                  <a:t>in repeated testing when </a:t>
                </a:r>
                <a14:m>
                  <m:oMath xmlns:m="http://schemas.openxmlformats.org/officeDocument/2006/math">
                    <m:sSub>
                      <m:e>
                        <m:r>
                          <m:t>H</m:t>
                        </m:r>
                      </m:e>
                      <m:sub>
                        <m:r>
                          <m:t>0</m:t>
                        </m:r>
                      </m:sub>
                    </m:sSub>
                  </m:oMath>
                </a14:m>
                <a:r>
                  <a:rPr/>
                  <a:t> is true about 1% of tests will incorrectly reject </a:t>
                </a:r>
                <a14:m>
                  <m:oMath xmlns:m="http://schemas.openxmlformats.org/officeDocument/2006/math">
                    <m:sSub>
                      <m:e>
                        <m:r>
                          <m:t>H</m:t>
                        </m:r>
                      </m:e>
                      <m:sub>
                        <m:r>
                          <m:t>0</m:t>
                        </m:r>
                      </m:sub>
                    </m:sSub>
                  </m:oMath>
                </a14:m>
              </a:p>
              <a:p>
                <a:pPr lvl="0"/>
                <a:r>
                  <a:rPr/>
                  <a:t>1% probability of falsely concluding that an effect exists when the null hypothesis is true</a:t>
                </a:r>
              </a:p>
              <a:p>
                <a:pPr lvl="0"/>
                <a:r>
                  <a:rPr/>
                  <a:t>fewer false positives are expected</a:t>
                </a:r>
              </a:p>
            </p:txBody>
          </p:sp>
        </mc:Choice>
      </mc:AlternateContent>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Display the Test Statistic</a:t>
                </a:r>
              </a:p>
              <a:p>
                <a:pPr lvl="0" indent="0" marL="0">
                  <a:buNone/>
                </a:pPr>
                <a:r>
                  <a:rPr b="1"/>
                  <a:t>5. Display test statistic that will be used in analysis</a:t>
                </a:r>
              </a:p>
              <a:p>
                <a:pPr lvl="0" indent="0" marL="0">
                  <a:buNone/>
                </a:pPr>
                <a:r>
                  <a:rPr>
                    <a:latin typeface="Courier"/>
                  </a:rPr>
                  <a:t>test statistic</a:t>
                </a:r>
                <a:r>
                  <a:rPr/>
                  <a:t> : numerical quantity calculated from sample data used to decide whether to reject or fail to reject </a:t>
                </a:r>
                <a14:m>
                  <m:oMath xmlns:m="http://schemas.openxmlformats.org/officeDocument/2006/math">
                    <m:sSub>
                      <m:e>
                        <m:r>
                          <m:t>H</m:t>
                        </m:r>
                      </m:e>
                      <m:sub>
                        <m:r>
                          <m:t>0</m:t>
                        </m:r>
                      </m:sub>
                    </m:sSub>
                  </m:oMath>
                </a14:m>
              </a:p>
              <a:p>
                <a:pPr lvl="0" indent="0" marL="0">
                  <a:buNone/>
                </a:pPr>
                <a:r>
                  <a:rPr/>
                  <a:t>Since the characteristic of interest is a population proportion:</a:t>
                </a:r>
              </a:p>
              <a:p>
                <a:pPr lvl="0" indent="0" marL="0">
                  <a:buNone/>
                </a:pPr>
                <a14:m>
                  <m:oMathPara xmlns:m="http://schemas.openxmlformats.org/officeDocument/2006/math">
                    <m:oMathParaPr>
                      <m:jc m:val="center"/>
                    </m:oMathParaPr>
                    <m:oMath>
                      <m:r>
                        <m:t>p</m:t>
                      </m:r>
                      <m:r>
                        <m:rPr>
                          <m:sty m:val="p"/>
                        </m:rPr>
                        <m:t>=</m:t>
                      </m:r>
                      <m:r>
                        <m:rPr>
                          <m:nor/>
                          <m:sty m:val="p"/>
                        </m:rPr>
                        <m:t>population probability of tumor response</m:t>
                      </m:r>
                    </m:oMath>
                  </m:oMathPara>
                </a14:m>
              </a:p>
              <a:p>
                <a:pPr lvl="0"/>
                <a:r>
                  <a:rPr/>
                  <a:t>parameter being tested is a proportion</a:t>
                </a:r>
              </a:p>
              <a:p>
                <a:pPr lvl="0"/>
                <a:r>
                  <a:rPr b="1"/>
                  <a:t>one-sample z statistic</a:t>
                </a:r>
                <a:r>
                  <a:rPr/>
                  <a:t> measure comparing an observed sample proportion to the null hypothesis proportion </a:t>
                </a:r>
                <a14:m>
                  <m:oMath xmlns:m="http://schemas.openxmlformats.org/officeDocument/2006/math">
                    <m:sSub>
                      <m:e>
                        <m:r>
                          <m:t>H</m:t>
                        </m:r>
                      </m:e>
                      <m:sub>
                        <m:r>
                          <m:t>0</m:t>
                        </m:r>
                      </m:sub>
                    </m:sSub>
                  </m:oMath>
                </a14:m>
              </a:p>
            </p:txBody>
          </p:sp>
        </mc:Choice>
      </mc:AlternateContent>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Display the Test Statistic</a:t>
                </a:r>
              </a:p>
              <a:p>
                <a:pPr lvl="0"/>
                <a:r>
                  <a:rPr/>
                  <a:t>different test statistics can be used for hypothesis tests</a:t>
                </a:r>
              </a:p>
              <a:p>
                <a:pPr lvl="0"/>
                <a:r>
                  <a:rPr/>
                  <a:t>each statistic quantifies how much the observed sample varies from the null hypothesis</a:t>
                </a:r>
              </a:p>
              <a:p>
                <a:pPr lvl="0" indent="0" marL="0">
                  <a:buNone/>
                </a:pPr>
                <a:r>
                  <a:rPr/>
                  <a:t>Many hypothesis tests use a statistic with this structure:</a:t>
                </a:r>
              </a:p>
              <a:p>
                <a:pPr lvl="0" indent="0" marL="0">
                  <a:buNone/>
                </a:pPr>
                <a14:m>
                  <m:oMathPara xmlns:m="http://schemas.openxmlformats.org/officeDocument/2006/math">
                    <m:oMathParaPr>
                      <m:jc m:val="center"/>
                    </m:oMathParaPr>
                    <m:oMath>
                      <m:r>
                        <m:rPr>
                          <m:nor/>
                          <m:sty m:val="p"/>
                        </m:rPr>
                        <m:t>test statistic</m:t>
                      </m:r>
                      <m:r>
                        <m:rPr>
                          <m:sty m:val="p"/>
                        </m:rPr>
                        <m:t>=</m:t>
                      </m:r>
                      <m:f>
                        <m:fPr>
                          <m:type m:val="bar"/>
                        </m:fPr>
                        <m:num>
                          <m:r>
                            <m:rPr>
                              <m:nor/>
                              <m:sty m:val="p"/>
                            </m:rPr>
                            <m:t>estimate</m:t>
                          </m:r>
                          <m:r>
                            <m:rPr>
                              <m:sty m:val="p"/>
                            </m:rPr>
                            <m:t>−</m:t>
                          </m:r>
                          <m:r>
                            <m:rPr>
                              <m:nor/>
                              <m:sty m:val="p"/>
                            </m:rPr>
                            <m:t>null value</m:t>
                          </m:r>
                        </m:num>
                        <m:den>
                          <m:r>
                            <m:rPr>
                              <m:nor/>
                              <m:sty m:val="p"/>
                            </m:rPr>
                            <m:t>standard error</m:t>
                          </m:r>
                        </m:den>
                      </m:f>
                    </m:oMath>
                  </m:oMathPara>
                </a14:m>
              </a:p>
              <a:p>
                <a:pPr lvl="0" indent="0" marL="0">
                  <a:buNone/>
                </a:pPr>
                <a:r>
                  <a:rPr/>
                  <a:t>Where:</a:t>
                </a:r>
              </a:p>
              <a:p>
                <a:pPr lvl="0"/>
                <a:r>
                  <a:rPr b="1"/>
                  <a:t>estimate</a:t>
                </a:r>
                <a:r>
                  <a:rPr/>
                  <a:t>: sample-based estimate of the population characteristic</a:t>
                </a:r>
              </a:p>
              <a:p>
                <a:pPr lvl="0"/>
                <a:r>
                  <a:rPr b="1"/>
                  <a:t>null value</a:t>
                </a:r>
                <a:r>
                  <a:rPr/>
                  <a:t>: value stated in </a:t>
                </a:r>
                <a14:m>
                  <m:oMath xmlns:m="http://schemas.openxmlformats.org/officeDocument/2006/math">
                    <m:sSub>
                      <m:e>
                        <m:r>
                          <m:t>H</m:t>
                        </m:r>
                      </m:e>
                      <m:sub>
                        <m:r>
                          <m:t>0</m:t>
                        </m:r>
                      </m:sub>
                    </m:sSub>
                  </m:oMath>
                </a14:m>
              </a:p>
              <a:p>
                <a:pPr lvl="0"/>
                <a:r>
                  <a:rPr b="1"/>
                  <a:t>standard error</a:t>
                </a:r>
                <a:r>
                  <a:rPr/>
                  <a:t>: estimated variability of the estimator across repeated samples</a:t>
                </a:r>
              </a:p>
            </p:txBody>
          </p:sp>
        </mc:Choice>
      </mc:AlternateContent>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Display the Test Statistic</a:t>
            </a:r>
          </a:p>
          <a:p>
            <a:pPr lvl="0" indent="0" marL="0">
              <a:buNone/>
            </a:pPr>
            <a:r>
              <a:rPr/>
              <a:t>Choice of test statistic depends on:</a:t>
            </a:r>
          </a:p>
          <a:p>
            <a:pPr lvl="0"/>
            <a:r>
              <a:rPr/>
              <a:t>type of outcome variable</a:t>
            </a:r>
            <a:br/>
          </a:p>
          <a:p>
            <a:pPr lvl="0"/>
            <a:r>
              <a:rPr/>
              <a:t>population characteristic being tested</a:t>
            </a:r>
            <a:br/>
          </a:p>
          <a:p>
            <a:pPr lvl="0"/>
            <a:r>
              <a:rPr/>
              <a:t>statistical model used for the data</a:t>
            </a:r>
          </a:p>
          <a:p>
            <a:pPr lvl="0" indent="0" marL="0">
              <a:buNone/>
            </a:pPr>
            <a:r>
              <a:rPr/>
              <a:t>Examples include:</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Display the Test Statistic</a:t>
                </a:r>
              </a:p>
              <a:p>
                <a:pPr lvl="0" indent="0" marL="0">
                  <a:buNone/>
                </a:pPr>
                <a:r>
                  <a:rPr b="1"/>
                  <a:t>5. Display test statistic that will be used in analysis</a:t>
                </a:r>
              </a:p>
              <a:p>
                <a:pPr lvl="0"/>
                <a:r>
                  <a:rPr/>
                  <a:t>one-sample z statistic measures how far the observed response proportion differs from the null response probability after accounting for expected sampling variability</a:t>
                </a:r>
              </a:p>
              <a:p>
                <a:pPr lvl="0" indent="0" marL="0">
                  <a:buNone/>
                </a:pPr>
                <a14:m>
                  <m:oMathPara xmlns:m="http://schemas.openxmlformats.org/officeDocument/2006/math">
                    <m:oMathParaPr>
                      <m:jc m:val="center"/>
                    </m:oMathParaPr>
                    <m:oMath>
                      <m:r>
                        <m:t>z</m:t>
                      </m:r>
                      <m:r>
                        <m:rPr>
                          <m:sty m:val="p"/>
                        </m:rPr>
                        <m:t>=</m:t>
                      </m:r>
                      <m:f>
                        <m:fPr>
                          <m:type m:val="bar"/>
                        </m:fPr>
                        <m:num>
                          <m:r>
                            <m:rPr>
                              <m:nor/>
                              <m:sty m:val="p"/>
                            </m:rPr>
                            <m:t>estimate [observed value] - expected [null]</m:t>
                          </m:r>
                        </m:num>
                        <m:den>
                          <m:r>
                            <m:rPr>
                              <m:nor/>
                              <m:sty m:val="p"/>
                            </m:rPr>
                            <m:t>standard error</m:t>
                          </m:r>
                        </m:den>
                      </m:f>
                      <m:r>
                        <m:rPr>
                          <m:sty m:val="p"/>
                        </m:rPr>
                        <m:t>=</m:t>
                      </m:r>
                      <m:f>
                        <m:fPr>
                          <m:type m:val="bar"/>
                        </m:fPr>
                        <m:num>
                          <m:acc>
                            <m:accPr>
                              <m:chr m:val="̂"/>
                            </m:accPr>
                            <m:e>
                              <m:r>
                                <m:t>p</m:t>
                              </m:r>
                            </m:e>
                          </m:acc>
                          <m:r>
                            <m:rPr>
                              <m:sty m:val="p"/>
                            </m:rPr>
                            <m:t>−</m:t>
                          </m:r>
                          <m:sSub>
                            <m:e>
                              <m:r>
                                <m:t>p</m:t>
                              </m:r>
                            </m:e>
                            <m:sub>
                              <m:r>
                                <m:t>0</m:t>
                              </m:r>
                            </m:sub>
                          </m:sSub>
                        </m:num>
                        <m:den>
                          <m:rad>
                            <m:radPr>
                              <m:degHide m:val="on"/>
                            </m:radPr>
                            <m:deg/>
                            <m:e>
                              <m:f>
                                <m:fPr>
                                  <m:type m:val="bar"/>
                                </m:fPr>
                                <m:num>
                                  <m:sSub>
                                    <m:e>
                                      <m:r>
                                        <m:t>p</m:t>
                                      </m:r>
                                    </m:e>
                                    <m:sub>
                                      <m:r>
                                        <m:t>0</m:t>
                                      </m:r>
                                    </m:sub>
                                  </m:sSub>
                                  <m:d>
                                    <m:dPr>
                                      <m:begChr m:val="("/>
                                      <m:sepChr m:val=""/>
                                      <m:endChr m:val=")"/>
                                      <m:grow/>
                                    </m:dPr>
                                    <m:e>
                                      <m:r>
                                        <m:t>1</m:t>
                                      </m:r>
                                      <m:r>
                                        <m:rPr>
                                          <m:sty m:val="p"/>
                                        </m:rPr>
                                        <m:t>−</m:t>
                                      </m:r>
                                      <m:sSub>
                                        <m:e>
                                          <m:r>
                                            <m:t>p</m:t>
                                          </m:r>
                                        </m:e>
                                        <m:sub>
                                          <m:r>
                                            <m:t>0</m:t>
                                          </m:r>
                                        </m:sub>
                                      </m:sSub>
                                    </m:e>
                                  </m:d>
                                </m:num>
                                <m:den>
                                  <m:r>
                                    <m:t>n</m:t>
                                  </m:r>
                                </m:den>
                              </m:f>
                            </m:e>
                          </m:rad>
                        </m:den>
                      </m:f>
                    </m:oMath>
                  </m:oMathPara>
                </a14:m>
              </a:p>
              <a:p>
                <a:pPr lvl="0" indent="0" marL="0">
                  <a:buNone/>
                </a:pPr>
                <a:r>
                  <a:rPr/>
                  <a:t>Where:</a:t>
                </a:r>
              </a:p>
              <a:p>
                <a:pPr lvl="0"/>
                <a14:m>
                  <m:oMath xmlns:m="http://schemas.openxmlformats.org/officeDocument/2006/math">
                    <m:acc>
                      <m:accPr>
                        <m:chr m:val="̂"/>
                      </m:accPr>
                      <m:e>
                        <m:r>
                          <m:t>p</m:t>
                        </m:r>
                      </m:e>
                    </m:acc>
                  </m:oMath>
                </a14:m>
                <a:r>
                  <a:rPr/>
                  <a:t>: observed tumor response proportion in the sample</a:t>
                </a:r>
                <a:br/>
              </a:p>
              <a:p>
                <a:pPr lvl="0"/>
                <a14:m>
                  <m:oMath xmlns:m="http://schemas.openxmlformats.org/officeDocument/2006/math">
                    <m:sSub>
                      <m:e>
                        <m:r>
                          <m:t>p</m:t>
                        </m:r>
                      </m:e>
                      <m:sub>
                        <m:r>
                          <m:t>0</m:t>
                        </m:r>
                      </m:sub>
                    </m:sSub>
                  </m:oMath>
                </a14:m>
                <a:r>
                  <a:rPr/>
                  <a:t>: hypothesized response probability under the null hypothesis</a:t>
                </a:r>
                <a:br/>
              </a:p>
              <a:p>
                <a:pPr lvl="0"/>
                <a14:m>
                  <m:oMath xmlns:m="http://schemas.openxmlformats.org/officeDocument/2006/math">
                    <m:r>
                      <m:t>n</m:t>
                    </m:r>
                  </m:oMath>
                </a14:m>
                <a:r>
                  <a:rPr/>
                  <a:t>: sample size</a:t>
                </a:r>
                <a:br/>
              </a:p>
              <a:p>
                <a:pPr lvl="0"/>
                <a:r>
                  <a:rPr/>
                  <a:t>denominator: standard error expected if </a:t>
                </a:r>
                <a14:m>
                  <m:oMath xmlns:m="http://schemas.openxmlformats.org/officeDocument/2006/math">
                    <m:sSub>
                      <m:e>
                        <m:r>
                          <m:t>H</m:t>
                        </m:r>
                      </m:e>
                      <m:sub>
                        <m:r>
                          <m:t>0</m:t>
                        </m:r>
                      </m:sub>
                    </m:sSub>
                  </m:oMath>
                </a14:m>
                <a:r>
                  <a:rPr/>
                  <a:t> were true</a:t>
                </a:r>
              </a:p>
            </p:txBody>
          </p:sp>
        </mc:Choice>
      </mc:AlternateContent>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Display the Test Statistic</a:t>
                </a:r>
              </a:p>
              <a:p>
                <a:pPr lvl="0" indent="0" marL="0">
                  <a:buNone/>
                </a:pPr>
                <a:r>
                  <a:rPr b="1"/>
                  <a:t>5. Display test statistic that will be used in analysis</a:t>
                </a:r>
              </a:p>
              <a:p>
                <a:pPr lvl="0" indent="0" marL="0">
                  <a:buNone/>
                </a:pPr>
                <a:r>
                  <a:rPr/>
                  <a:t>Hypothesis:</a:t>
                </a:r>
              </a:p>
              <a:p>
                <a:pPr lvl="0" indent="0" marL="1270000">
                  <a:buNone/>
                </a:pPr>
                <a:r>
                  <a:rPr sz="2000"/>
                  <a:t>determine whether the population tumor response probability is greater than 50%</a:t>
                </a:r>
              </a:p>
              <a:p>
                <a:pPr lvl="0" indent="0" marL="0">
                  <a:buNone/>
                </a:pPr>
                <a:r>
                  <a:rPr/>
                  <a:t>As a result:</a:t>
                </a:r>
              </a:p>
              <a:p>
                <a:pPr lvl="0"/>
                <a:r>
                  <a:rPr/>
                  <a:t>[large] positive z statistics support </a:t>
                </a:r>
                <a14:m>
                  <m:oMath xmlns:m="http://schemas.openxmlformats.org/officeDocument/2006/math">
                    <m:sSub>
                      <m:e>
                        <m:r>
                          <m:t>H</m:t>
                        </m:r>
                      </m:e>
                      <m:sub>
                        <m:r>
                          <m:t>A</m:t>
                        </m:r>
                      </m:sub>
                    </m:sSub>
                  </m:oMath>
                </a14:m>
              </a:p>
              <a:p>
                <a:pPr lvl="0"/>
                <a:r>
                  <a:rPr/>
                  <a:t>[large] negative z statistics do not support </a:t>
                </a:r>
                <a14:m>
                  <m:oMath xmlns:m="http://schemas.openxmlformats.org/officeDocument/2006/math">
                    <m:sSub>
                      <m:e>
                        <m:r>
                          <m:t>H</m:t>
                        </m:r>
                      </m:e>
                      <m:sub>
                        <m:r>
                          <m:t>A</m:t>
                        </m:r>
                      </m:sub>
                    </m:sSub>
                  </m:oMath>
                </a14:m>
              </a:p>
              <a:p>
                <a:pPr lvl="0" indent="0" marL="0">
                  <a:buNone/>
                </a:pPr>
                <a:r>
                  <a:rPr/>
                  <a:t>Interpretation:</a:t>
                </a:r>
              </a:p>
              <a:p>
                <a:pPr lvl="0"/>
                <a:r>
                  <a:rPr/>
                  <a:t>z statistic near 0 → observed response proportion is consistent with </a:t>
                </a:r>
                <a14:m>
                  <m:oMath xmlns:m="http://schemas.openxmlformats.org/officeDocument/2006/math">
                    <m:sSub>
                      <m:e>
                        <m:r>
                          <m:t>H</m:t>
                        </m:r>
                      </m:e>
                      <m:sub>
                        <m:r>
                          <m:t>0</m:t>
                        </m:r>
                      </m:sub>
                    </m:sSub>
                  </m:oMath>
                </a14:m>
              </a:p>
              <a:p>
                <a:pPr lvl="0"/>
                <a:r>
                  <a:rPr/>
                  <a:t>large positive z → observed response proportion is much larger than expected under </a:t>
                </a:r>
                <a14:m>
                  <m:oMath xmlns:m="http://schemas.openxmlformats.org/officeDocument/2006/math">
                    <m:sSub>
                      <m:e>
                        <m:r>
                          <m:t>H</m:t>
                        </m:r>
                      </m:e>
                      <m:sub>
                        <m:r>
                          <m:t>0</m:t>
                        </m:r>
                      </m:sub>
                    </m:sSub>
                  </m:oMath>
                </a14:m>
                <a:br/>
              </a:p>
              <a:p>
                <a:pPr lvl="0"/>
                <a:r>
                  <a:rPr/>
                  <a:t>large negative z → observed response proportion is much smaller than expected under </a:t>
                </a:r>
                <a14:m>
                  <m:oMath xmlns:m="http://schemas.openxmlformats.org/officeDocument/2006/math">
                    <m:sSub>
                      <m:e>
                        <m:r>
                          <m:t>H</m:t>
                        </m:r>
                      </m:e>
                      <m:sub>
                        <m:r>
                          <m:t>0</m:t>
                        </m:r>
                      </m:sub>
                    </m:sSub>
                  </m:oMath>
                </a14:m>
              </a:p>
            </p:txBody>
          </p:sp>
        </mc:Choice>
      </mc:AlternateContent>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Hypothesis Test for Tumor Response Probability</a:t>
                </a:r>
              </a:p>
              <a:p>
                <a:pPr lvl="0" indent="0" marL="0">
                  <a:buNone/>
                </a:pPr>
                <a:r>
                  <a:rPr/>
                  <a:t>Suppose you have a dataset of 120 biomarker-positive cancer patients</a:t>
                </a:r>
              </a:p>
              <a:p>
                <a:pPr lvl="0" indent="0" marL="0">
                  <a:buNone/>
                </a:pPr>
                <a:r>
                  <a:rPr/>
                  <a:t>The variable response is binary:</a:t>
                </a:r>
              </a:p>
              <a:p>
                <a:pPr lvl="0" indent="0" marL="0">
                  <a:buNone/>
                </a:pPr>
                <a:r>
                  <a:rPr/>
                  <a:t>1 = tumor response observed</a:t>
                </a:r>
              </a:p>
              <a:p>
                <a:pPr lvl="0" indent="0" marL="0">
                  <a:buNone/>
                </a:pPr>
                <a:r>
                  <a:rPr/>
                  <a:t>0 = tumor response not observed</a:t>
                </a:r>
              </a:p>
              <a:p>
                <a:pPr lvl="0" indent="0" marL="0">
                  <a:buNone/>
                </a:pPr>
                <a:r>
                  <a:rPr/>
                  <a:t>Observed response proportion </a:t>
                </a:r>
                <a14:m>
                  <m:oMath xmlns:m="http://schemas.openxmlformats.org/officeDocument/2006/math">
                    <m:acc>
                      <m:accPr>
                        <m:chr m:val="̂"/>
                      </m:accPr>
                      <m:e>
                        <m:r>
                          <m:t>p</m:t>
                        </m:r>
                      </m:e>
                    </m:acc>
                  </m:oMath>
                </a14:m>
                <a:r>
                  <a:rPr/>
                  <a:t> estimates the population response probability p</a:t>
                </a:r>
              </a:p>
              <a:p>
                <a:pPr lvl="0" indent="0" marL="0">
                  <a:buNone/>
                </a:pPr>
                <a14:m>
                  <m:oMath xmlns:m="http://schemas.openxmlformats.org/officeDocument/2006/math">
                    <m:acc>
                      <m:accPr>
                        <m:chr m:val="̂"/>
                      </m:accPr>
                      <m:e>
                        <m:r>
                          <m:t>p</m:t>
                        </m:r>
                      </m:e>
                    </m:acc>
                  </m:oMath>
                </a14:m>
                <a:r>
                  <a:rPr/>
                  <a:t>: observed sample proportion [averge across all responses in dataset]</a:t>
                </a:r>
              </a:p>
              <a:p>
                <a:pPr lvl="0" indent="0" marL="0">
                  <a:buNone/>
                </a:pPr>
                <a14:m>
                  <m:oMath xmlns:m="http://schemas.openxmlformats.org/officeDocument/2006/math">
                    <m:sSub>
                      <m:e>
                        <m:r>
                          <m:t>p</m:t>
                        </m:r>
                      </m:e>
                      <m:sub>
                        <m:r>
                          <m:t>0</m:t>
                        </m:r>
                      </m:sub>
                    </m:sSub>
                  </m:oMath>
                </a14:m>
                <a:r>
                  <a:rPr/>
                  <a:t>: null hypothesis proportion [p = 50%]</a:t>
                </a:r>
              </a:p>
              <a:p>
                <a:pPr lvl="0" indent="0">
                  <a:buNone/>
                </a:pPr>
                <a:r>
                  <a:rPr>
                    <a:latin typeface="Courier"/>
                  </a:rPr>
                  <a:t># A tibble: 6 × 2
  patient_id response
       &lt;int&gt;    &lt;int&gt;
1          1        1
2          2        1
3          3        0
4          4        0
5          5        1
6          6        1</a:t>
                </a:r>
              </a:p>
            </p:txBody>
          </p:sp>
        </mc:Choice>
      </mc:AlternateContent>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Hypothesis Test for Tumor Response Probability</a:t>
                </a:r>
              </a:p>
              <a:p>
                <a:pPr lvl="0" indent="0">
                  <a:buNone/>
                </a:pPr>
                <a:r>
                  <a:rPr>
                    <a:solidFill>
                      <a:srgbClr val="003B4F"/>
                    </a:solidFill>
                    <a:latin typeface="Courier"/>
                  </a:rPr>
                  <a:t>p0 &lt;- </a:t>
                </a:r>
                <a:r>
                  <a:rPr>
                    <a:solidFill>
                      <a:srgbClr val="AD0000"/>
                    </a:solidFill>
                    <a:latin typeface="Courier"/>
                  </a:rPr>
                  <a:t>0.50</a:t>
                </a:r>
                <a:br/>
                <a:br/>
                <a:r>
                  <a:rPr>
                    <a:solidFill>
                      <a:srgbClr val="003B4F"/>
                    </a:solidFill>
                    <a:latin typeface="Courier"/>
                  </a:rPr>
                  <a:t>summary_df &lt;- tumor_response_df </a:t>
                </a:r>
                <a:r>
                  <a:rPr>
                    <a:solidFill>
                      <a:srgbClr val="5E5E5E"/>
                    </a:solidFill>
                    <a:latin typeface="Courier"/>
                  </a:rPr>
                  <a:t>|&gt;</a:t>
                </a:r>
                <a:br/>
                <a:r>
                  <a:rPr>
                    <a:solidFill>
                      <a:srgbClr val="003B4F"/>
                    </a:solidFill>
                    <a:latin typeface="Courier"/>
                  </a:rPr>
                  <a:t>  </a:t>
                </a:r>
                <a:r>
                  <a:rPr>
                    <a:solidFill>
                      <a:srgbClr val="4758AB"/>
                    </a:solidFill>
                    <a:latin typeface="Courier"/>
                  </a:rPr>
                  <a:t>summarise</a:t>
                </a:r>
                <a:r>
                  <a:rPr>
                    <a:solidFill>
                      <a:srgbClr val="003B4F"/>
                    </a:solidFill>
                    <a:latin typeface="Courier"/>
                  </a:rPr>
                  <a:t>(</a:t>
                </a:r>
                <a:br/>
                <a:r>
                  <a:rPr>
                    <a:solidFill>
                      <a:srgbClr val="003B4F"/>
                    </a:solidFill>
                    <a:latin typeface="Courier"/>
                  </a:rPr>
                  <a:t>    </a:t>
                </a:r>
                <a:r>
                  <a:rPr>
                    <a:solidFill>
                      <a:srgbClr val="657422"/>
                    </a:solidFill>
                    <a:latin typeface="Courier"/>
                  </a:rPr>
                  <a:t>n =</a:t>
                </a:r>
                <a:r>
                  <a:rPr>
                    <a:solidFill>
                      <a:srgbClr val="003B4F"/>
                    </a:solidFill>
                    <a:latin typeface="Courier"/>
                  </a:rPr>
                  <a:t> </a:t>
                </a:r>
                <a:r>
                  <a:rPr>
                    <a:solidFill>
                      <a:srgbClr val="4758AB"/>
                    </a:solidFill>
                    <a:latin typeface="Courier"/>
                  </a:rPr>
                  <a:t>n</a:t>
                </a:r>
                <a:r>
                  <a:rPr>
                    <a:solidFill>
                      <a:srgbClr val="003B4F"/>
                    </a:solidFill>
                    <a:latin typeface="Courier"/>
                  </a:rPr>
                  <a:t>(),</a:t>
                </a:r>
                <a:br/>
                <a:r>
                  <a:rPr>
                    <a:solidFill>
                      <a:srgbClr val="003B4F"/>
                    </a:solidFill>
                    <a:latin typeface="Courier"/>
                  </a:rPr>
                  <a:t>    </a:t>
                </a:r>
                <a:r>
                  <a:rPr>
                    <a:solidFill>
                      <a:srgbClr val="657422"/>
                    </a:solidFill>
                    <a:latin typeface="Courier"/>
                  </a:rPr>
                  <a:t>p_hat =</a:t>
                </a:r>
                <a:r>
                  <a:rPr>
                    <a:solidFill>
                      <a:srgbClr val="003B4F"/>
                    </a:solidFill>
                    <a:latin typeface="Courier"/>
                  </a:rPr>
                  <a:t> </a:t>
                </a:r>
                <a:r>
                  <a:rPr>
                    <a:solidFill>
                      <a:srgbClr val="4758AB"/>
                    </a:solidFill>
                    <a:latin typeface="Courier"/>
                  </a:rPr>
                  <a:t>mean</a:t>
                </a:r>
                <a:r>
                  <a:rPr>
                    <a:solidFill>
                      <a:srgbClr val="003B4F"/>
                    </a:solidFill>
                    <a:latin typeface="Courier"/>
                  </a:rPr>
                  <a:t>(response)</a:t>
                </a:r>
                <a:br/>
                <a:r>
                  <a:rPr>
                    <a:solidFill>
                      <a:srgbClr val="003B4F"/>
                    </a:solidFill>
                    <a:latin typeface="Courier"/>
                  </a:rPr>
                  <a:t>  ) </a:t>
                </a:r>
                <a:r>
                  <a:rPr>
                    <a:solidFill>
                      <a:srgbClr val="5E5E5E"/>
                    </a:solidFill>
                    <a:latin typeface="Courier"/>
                  </a:rPr>
                  <a:t>|&gt;</a:t>
                </a:r>
                <a:br/>
                <a:r>
                  <a:rPr>
                    <a:solidFill>
                      <a:srgbClr val="003B4F"/>
                    </a:solidFill>
                    <a:latin typeface="Courier"/>
                  </a:rPr>
                  <a:t>  </a:t>
                </a:r>
                <a:r>
                  <a:rPr>
                    <a:solidFill>
                      <a:srgbClr val="4758AB"/>
                    </a:solidFill>
                    <a:latin typeface="Courier"/>
                  </a:rPr>
                  <a:t>mutate</a:t>
                </a:r>
                <a:r>
                  <a:rPr>
                    <a:solidFill>
                      <a:srgbClr val="003B4F"/>
                    </a:solidFill>
                    <a:latin typeface="Courier"/>
                  </a:rPr>
                  <a:t>(</a:t>
                </a:r>
                <a:br/>
                <a:r>
                  <a:rPr>
                    <a:solidFill>
                      <a:srgbClr val="003B4F"/>
                    </a:solidFill>
                    <a:latin typeface="Courier"/>
                  </a:rPr>
                  <a:t>    </a:t>
                </a:r>
                <a:r>
                  <a:rPr>
                    <a:solidFill>
                      <a:srgbClr val="657422"/>
                    </a:solidFill>
                    <a:latin typeface="Courier"/>
                  </a:rPr>
                  <a:t>se_null =</a:t>
                </a:r>
                <a:r>
                  <a:rPr>
                    <a:solidFill>
                      <a:srgbClr val="003B4F"/>
                    </a:solidFill>
                    <a:latin typeface="Courier"/>
                  </a:rPr>
                  <a:t> </a:t>
                </a:r>
                <a:r>
                  <a:rPr>
                    <a:solidFill>
                      <a:srgbClr val="4758AB"/>
                    </a:solidFill>
                    <a:latin typeface="Courier"/>
                  </a:rPr>
                  <a:t>sqrt</a:t>
                </a:r>
                <a:r>
                  <a:rPr>
                    <a:solidFill>
                      <a:srgbClr val="003B4F"/>
                    </a:solidFill>
                    <a:latin typeface="Courier"/>
                  </a:rPr>
                  <a:t>(p0 </a:t>
                </a:r>
                <a:r>
                  <a:rPr>
                    <a:solidFill>
                      <a:srgbClr val="5E5E5E"/>
                    </a:solidFill>
                    <a:latin typeface="Courier"/>
                  </a:rPr>
                  <a:t>*</a:t>
                </a:r>
                <a:r>
                  <a:rPr>
                    <a:solidFill>
                      <a:srgbClr val="003B4F"/>
                    </a:solidFill>
                    <a:latin typeface="Courier"/>
                  </a:rPr>
                  <a:t> (</a:t>
                </a:r>
                <a:r>
                  <a:rPr>
                    <a:solidFill>
                      <a:srgbClr val="AD0000"/>
                    </a:solidFill>
                    <a:latin typeface="Courier"/>
                  </a:rPr>
                  <a:t>1</a:t>
                </a:r>
                <a:r>
                  <a:rPr>
                    <a:solidFill>
                      <a:srgbClr val="003B4F"/>
                    </a:solidFill>
                    <a:latin typeface="Courier"/>
                  </a:rPr>
                  <a:t> </a:t>
                </a:r>
                <a:r>
                  <a:rPr>
                    <a:solidFill>
                      <a:srgbClr val="5E5E5E"/>
                    </a:solidFill>
                    <a:latin typeface="Courier"/>
                  </a:rPr>
                  <a:t>-</a:t>
                </a:r>
                <a:r>
                  <a:rPr>
                    <a:solidFill>
                      <a:srgbClr val="003B4F"/>
                    </a:solidFill>
                    <a:latin typeface="Courier"/>
                  </a:rPr>
                  <a:t> p0) </a:t>
                </a:r>
                <a:r>
                  <a:rPr>
                    <a:solidFill>
                      <a:srgbClr val="5E5E5E"/>
                    </a:solidFill>
                    <a:latin typeface="Courier"/>
                  </a:rPr>
                  <a:t>/</a:t>
                </a:r>
                <a:r>
                  <a:rPr>
                    <a:solidFill>
                      <a:srgbClr val="003B4F"/>
                    </a:solidFill>
                    <a:latin typeface="Courier"/>
                  </a:rPr>
                  <a:t> n),</a:t>
                </a:r>
                <a:br/>
                <a:r>
                  <a:rPr>
                    <a:solidFill>
                      <a:srgbClr val="003B4F"/>
                    </a:solidFill>
                    <a:latin typeface="Courier"/>
                  </a:rPr>
                  <a:t>    </a:t>
                </a:r>
                <a:r>
                  <a:rPr>
                    <a:solidFill>
                      <a:srgbClr val="657422"/>
                    </a:solidFill>
                    <a:latin typeface="Courier"/>
                  </a:rPr>
                  <a:t>z =</a:t>
                </a:r>
                <a:r>
                  <a:rPr>
                    <a:solidFill>
                      <a:srgbClr val="003B4F"/>
                    </a:solidFill>
                    <a:latin typeface="Courier"/>
                  </a:rPr>
                  <a:t> (p_hat </a:t>
                </a:r>
                <a:r>
                  <a:rPr>
                    <a:solidFill>
                      <a:srgbClr val="5E5E5E"/>
                    </a:solidFill>
                    <a:latin typeface="Courier"/>
                  </a:rPr>
                  <a:t>-</a:t>
                </a:r>
                <a:r>
                  <a:rPr>
                    <a:solidFill>
                      <a:srgbClr val="003B4F"/>
                    </a:solidFill>
                    <a:latin typeface="Courier"/>
                  </a:rPr>
                  <a:t> p0) </a:t>
                </a:r>
                <a:r>
                  <a:rPr>
                    <a:solidFill>
                      <a:srgbClr val="5E5E5E"/>
                    </a:solidFill>
                    <a:latin typeface="Courier"/>
                  </a:rPr>
                  <a:t>/</a:t>
                </a:r>
                <a:r>
                  <a:rPr>
                    <a:solidFill>
                      <a:srgbClr val="003B4F"/>
                    </a:solidFill>
                    <a:latin typeface="Courier"/>
                  </a:rPr>
                  <a:t> se_null,</a:t>
                </a:r>
                <a:br/>
                <a:r>
                  <a:rPr>
                    <a:solidFill>
                      <a:srgbClr val="003B4F"/>
                    </a:solidFill>
                    <a:latin typeface="Courier"/>
                  </a:rPr>
                  <a:t>    </a:t>
                </a:r>
                <a:r>
                  <a:rPr>
                    <a:solidFill>
                      <a:srgbClr val="657422"/>
                    </a:solidFill>
                    <a:latin typeface="Courier"/>
                  </a:rPr>
                  <a:t>p_value =</a:t>
                </a:r>
                <a:r>
                  <a:rPr>
                    <a:solidFill>
                      <a:srgbClr val="003B4F"/>
                    </a:solidFill>
                    <a:latin typeface="Courier"/>
                  </a:rPr>
                  <a:t> </a:t>
                </a:r>
                <a:r>
                  <a:rPr>
                    <a:solidFill>
                      <a:srgbClr val="AD0000"/>
                    </a:solidFill>
                    <a:latin typeface="Courier"/>
                  </a:rPr>
                  <a:t>1</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4758AB"/>
                    </a:solidFill>
                    <a:latin typeface="Courier"/>
                  </a:rPr>
                  <a:t>pnorm</a:t>
                </a:r>
                <a:r>
                  <a:rPr>
                    <a:solidFill>
                      <a:srgbClr val="003B4F"/>
                    </a:solidFill>
                    <a:latin typeface="Courier"/>
                  </a:rPr>
                  <a:t>(z)</a:t>
                </a:r>
                <a:br/>
                <a:r>
                  <a:rPr>
                    <a:solidFill>
                      <a:srgbClr val="003B4F"/>
                    </a:solidFill>
                    <a:latin typeface="Courier"/>
                  </a:rPr>
                  <a:t>  )</a:t>
                </a:r>
                <a:br/>
                <a:br/>
                <a:r>
                  <a:rPr>
                    <a:solidFill>
                      <a:srgbClr val="003B4F"/>
                    </a:solidFill>
                    <a:latin typeface="Courier"/>
                  </a:rPr>
                  <a:t>summary_df</a:t>
                </a:r>
              </a:p>
              <a:p>
                <a:pPr lvl="0" indent="0">
                  <a:buNone/>
                </a:pPr>
                <a:r>
                  <a:rPr>
                    <a:latin typeface="Courier"/>
                  </a:rPr>
                  <a:t># A tibble: 1 × 5
      n p_hat se_null     z p_value
  &lt;int&gt; &lt;dbl&gt;   &lt;dbl&gt; &lt;dbl&gt;   &lt;dbl&gt;
1   120  0.55  0.0456  1.10   0.137</a:t>
                </a:r>
              </a:p>
              <a:p>
                <a:pPr lvl="0" indent="0" marL="0">
                  <a:buNone/>
                </a:pPr>
                <a:r>
                  <a:rPr b="1"/>
                  <a:t>Code Explanation</a:t>
                </a:r>
              </a:p>
              <a:p>
                <a:pPr lvl="0" indent="0" marL="0">
                  <a:buNone/>
                </a:pPr>
                <a:r>
                  <a:rPr>
                    <a:latin typeface="Courier"/>
                  </a:rPr>
                  <a:t>p0 &lt;- 0.50</a:t>
                </a:r>
                <a:r>
                  <a:rPr/>
                  <a:t> </a:t>
                </a:r>
                <a14:m>
                  <m:oMath xmlns:m="http://schemas.openxmlformats.org/officeDocument/2006/math">
                    <m:r>
                      <m:rPr>
                        <m:sty m:val="p"/>
                      </m:rPr>
                      <m:t>→</m:t>
                    </m:r>
                  </m:oMath>
                </a14:m>
                <a:r>
                  <a:rPr/>
                  <a:t> define the null hypothesis response probability: </a:t>
                </a:r>
                <a14:m>
                  <m:oMath xmlns:m="http://schemas.openxmlformats.org/officeDocument/2006/math">
                    <m:sSub>
                      <m:e>
                        <m:r>
                          <m:t>H</m:t>
                        </m:r>
                      </m:e>
                      <m:sub>
                        <m:r>
                          <m:t>0</m:t>
                        </m:r>
                      </m:sub>
                    </m:sSub>
                    <m:r>
                      <m:rPr>
                        <m:sty m:val="p"/>
                      </m:rPr>
                      <m:t>:</m:t>
                    </m:r>
                    <m:r>
                      <m:t>p</m:t>
                    </m:r>
                    <m:r>
                      <m:rPr>
                        <m:sty m:val="p"/>
                      </m:rPr>
                      <m:t>=</m:t>
                    </m:r>
                    <m:r>
                      <m:t>0.50</m:t>
                    </m:r>
                  </m:oMath>
                </a14:m>
              </a:p>
              <a:p>
                <a:pPr lvl="0" indent="0" marL="0">
                  <a:buNone/>
                </a:pPr>
                <a:r>
                  <a:rPr/>
                  <a:t>find total number of patients (</a:t>
                </a:r>
                <a:r>
                  <a:rPr>
                    <a:latin typeface="Courier"/>
                  </a:rPr>
                  <a:t>n</a:t>
                </a:r>
                <a:r>
                  <a:rPr/>
                  <a:t>) and observed sample response proportion (</a:t>
                </a:r>
                <a:r>
                  <a:rPr>
                    <a:latin typeface="Courier"/>
                  </a:rPr>
                  <a:t>p_hat</a:t>
                </a:r>
                <a:r>
                  <a:rPr/>
                  <a:t>)</a:t>
                </a:r>
              </a:p>
              <a:p>
                <a:pPr lvl="0" indent="0" marL="0">
                  <a:buNone/>
                </a:pPr>
                <a:r>
                  <a:rPr>
                    <a:latin typeface="Courier"/>
                  </a:rPr>
                  <a:t>summarise(</a:t>
                </a:r>
                <a:r>
                  <a:rPr/>
                  <a:t> </a:t>
                </a:r>
                <a:r>
                  <a:rPr>
                    <a:latin typeface="Courier"/>
                  </a:rPr>
                  <a:t>n = n(),</a:t>
                </a:r>
                <a:r>
                  <a:rPr/>
                  <a:t> </a:t>
                </a:r>
                <a:r>
                  <a:rPr>
                    <a:latin typeface="Courier"/>
                  </a:rPr>
                  <a:t>p_hat = mean(response)</a:t>
                </a:r>
                <a:r>
                  <a:rPr/>
                  <a:t> </a:t>
                </a:r>
                <a:r>
                  <a:rPr>
                    <a:latin typeface="Courier"/>
                  </a:rPr>
                  <a:t>)</a:t>
                </a:r>
              </a:p>
              <a:p>
                <a:pPr lvl="0" indent="0" marL="0">
                  <a:buNone/>
                </a:pPr>
                <a:r>
                  <a:rPr/>
                  <a:t>compute standard error expected under the null hypothesis</a:t>
                </a:r>
              </a:p>
              <a:p>
                <a:pPr lvl="0" indent="0" marL="0">
                  <a:buNone/>
                </a:pPr>
                <a:r>
                  <a:rPr>
                    <a:latin typeface="Courier"/>
                  </a:rPr>
                  <a:t>se_null = sqrt(p0 * (1 - p0) / n)</a:t>
                </a:r>
              </a:p>
              <a:p>
                <a:pPr lvl="0" indent="0" marL="0">
                  <a:buNone/>
                </a:pPr>
                <a:r>
                  <a:rPr/>
                  <a:t>compute one-sample z statistic</a:t>
                </a:r>
              </a:p>
              <a:p>
                <a:pPr lvl="0" indent="0" marL="0">
                  <a:buNone/>
                </a:pPr>
                <a:r>
                  <a:rPr>
                    <a:latin typeface="Courier"/>
                  </a:rPr>
                  <a:t>z = (p_hat - p0) / se_null</a:t>
                </a:r>
              </a:p>
              <a:p>
                <a:pPr lvl="0" indent="0" marL="0">
                  <a:buNone/>
                </a:pPr>
                <a:r>
                  <a:rPr/>
                  <a:t>compute right-tailed p-value from the standard normal distribution </a:t>
                </a:r>
                <a14:m>
                  <m:oMath xmlns:m="http://schemas.openxmlformats.org/officeDocument/2006/math">
                    <m:sSub>
                      <m:e>
                        <m:r>
                          <m:t>H</m:t>
                        </m:r>
                      </m:e>
                      <m:sub>
                        <m:r>
                          <m:t>A</m:t>
                        </m:r>
                      </m:sub>
                    </m:sSub>
                    <m:r>
                      <m:rPr>
                        <m:sty m:val="p"/>
                      </m:rPr>
                      <m:t>:</m:t>
                    </m:r>
                    <m:r>
                      <m:t>p</m:t>
                    </m:r>
                    <m:r>
                      <m:rPr>
                        <m:sty m:val="p"/>
                      </m:rPr>
                      <m:t>&gt;</m:t>
                    </m:r>
                    <m:r>
                      <m:t>0.50</m:t>
                    </m:r>
                  </m:oMath>
                </a14:m>
              </a:p>
              <a:p>
                <a:pPr lvl="0" indent="0" marL="0">
                  <a:buNone/>
                </a:pPr>
                <a:r>
                  <a:rPr>
                    <a:latin typeface="Courier"/>
                  </a:rPr>
                  <a:t>p_value = 1 - pnorm(z)</a:t>
                </a:r>
              </a:p>
            </p:txBody>
          </p:sp>
        </mc:Choice>
      </mc:AlternateContent>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Hypothesis Test for Tumor Response Probability</a:t>
                </a:r>
              </a:p>
              <a:p>
                <a:pPr lvl="0" indent="0">
                  <a:buNone/>
                </a:pPr>
                <a:r>
                  <a:rPr>
                    <a:solidFill>
                      <a:srgbClr val="003B4F"/>
                    </a:solidFill>
                    <a:latin typeface="Courier"/>
                  </a:rPr>
                  <a:t>p0 &lt;- </a:t>
                </a:r>
                <a:r>
                  <a:rPr>
                    <a:solidFill>
                      <a:srgbClr val="AD0000"/>
                    </a:solidFill>
                    <a:latin typeface="Courier"/>
                  </a:rPr>
                  <a:t>0.50</a:t>
                </a:r>
                <a:br/>
                <a:br/>
                <a:r>
                  <a:rPr>
                    <a:solidFill>
                      <a:srgbClr val="003B4F"/>
                    </a:solidFill>
                    <a:latin typeface="Courier"/>
                  </a:rPr>
                  <a:t>summary_df &lt;- tumor_response_df </a:t>
                </a:r>
                <a:r>
                  <a:rPr>
                    <a:solidFill>
                      <a:srgbClr val="5E5E5E"/>
                    </a:solidFill>
                    <a:latin typeface="Courier"/>
                  </a:rPr>
                  <a:t>|&gt;</a:t>
                </a:r>
                <a:br/>
                <a:r>
                  <a:rPr>
                    <a:solidFill>
                      <a:srgbClr val="003B4F"/>
                    </a:solidFill>
                    <a:latin typeface="Courier"/>
                  </a:rPr>
                  <a:t>  </a:t>
                </a:r>
                <a:r>
                  <a:rPr>
                    <a:solidFill>
                      <a:srgbClr val="4758AB"/>
                    </a:solidFill>
                    <a:latin typeface="Courier"/>
                  </a:rPr>
                  <a:t>summarise</a:t>
                </a:r>
                <a:r>
                  <a:rPr>
                    <a:solidFill>
                      <a:srgbClr val="003B4F"/>
                    </a:solidFill>
                    <a:latin typeface="Courier"/>
                  </a:rPr>
                  <a:t>(</a:t>
                </a:r>
                <a:br/>
                <a:r>
                  <a:rPr>
                    <a:solidFill>
                      <a:srgbClr val="003B4F"/>
                    </a:solidFill>
                    <a:latin typeface="Courier"/>
                  </a:rPr>
                  <a:t>    </a:t>
                </a:r>
                <a:r>
                  <a:rPr>
                    <a:solidFill>
                      <a:srgbClr val="657422"/>
                    </a:solidFill>
                    <a:latin typeface="Courier"/>
                  </a:rPr>
                  <a:t>n =</a:t>
                </a:r>
                <a:r>
                  <a:rPr>
                    <a:solidFill>
                      <a:srgbClr val="003B4F"/>
                    </a:solidFill>
                    <a:latin typeface="Courier"/>
                  </a:rPr>
                  <a:t> </a:t>
                </a:r>
                <a:r>
                  <a:rPr>
                    <a:solidFill>
                      <a:srgbClr val="4758AB"/>
                    </a:solidFill>
                    <a:latin typeface="Courier"/>
                  </a:rPr>
                  <a:t>n</a:t>
                </a:r>
                <a:r>
                  <a:rPr>
                    <a:solidFill>
                      <a:srgbClr val="003B4F"/>
                    </a:solidFill>
                    <a:latin typeface="Courier"/>
                  </a:rPr>
                  <a:t>(),</a:t>
                </a:r>
                <a:br/>
                <a:r>
                  <a:rPr>
                    <a:solidFill>
                      <a:srgbClr val="003B4F"/>
                    </a:solidFill>
                    <a:latin typeface="Courier"/>
                  </a:rPr>
                  <a:t>    </a:t>
                </a:r>
                <a:r>
                  <a:rPr>
                    <a:solidFill>
                      <a:srgbClr val="657422"/>
                    </a:solidFill>
                    <a:latin typeface="Courier"/>
                  </a:rPr>
                  <a:t>p_hat =</a:t>
                </a:r>
                <a:r>
                  <a:rPr>
                    <a:solidFill>
                      <a:srgbClr val="003B4F"/>
                    </a:solidFill>
                    <a:latin typeface="Courier"/>
                  </a:rPr>
                  <a:t> </a:t>
                </a:r>
                <a:r>
                  <a:rPr>
                    <a:solidFill>
                      <a:srgbClr val="4758AB"/>
                    </a:solidFill>
                    <a:latin typeface="Courier"/>
                  </a:rPr>
                  <a:t>mean</a:t>
                </a:r>
                <a:r>
                  <a:rPr>
                    <a:solidFill>
                      <a:srgbClr val="003B4F"/>
                    </a:solidFill>
                    <a:latin typeface="Courier"/>
                  </a:rPr>
                  <a:t>(response)</a:t>
                </a:r>
                <a:br/>
                <a:r>
                  <a:rPr>
                    <a:solidFill>
                      <a:srgbClr val="003B4F"/>
                    </a:solidFill>
                    <a:latin typeface="Courier"/>
                  </a:rPr>
                  <a:t>  ) </a:t>
                </a:r>
                <a:r>
                  <a:rPr>
                    <a:solidFill>
                      <a:srgbClr val="5E5E5E"/>
                    </a:solidFill>
                    <a:latin typeface="Courier"/>
                  </a:rPr>
                  <a:t>|&gt;</a:t>
                </a:r>
                <a:br/>
                <a:r>
                  <a:rPr>
                    <a:solidFill>
                      <a:srgbClr val="003B4F"/>
                    </a:solidFill>
                    <a:latin typeface="Courier"/>
                  </a:rPr>
                  <a:t>  </a:t>
                </a:r>
                <a:r>
                  <a:rPr>
                    <a:solidFill>
                      <a:srgbClr val="4758AB"/>
                    </a:solidFill>
                    <a:latin typeface="Courier"/>
                  </a:rPr>
                  <a:t>mutate</a:t>
                </a:r>
                <a:r>
                  <a:rPr>
                    <a:solidFill>
                      <a:srgbClr val="003B4F"/>
                    </a:solidFill>
                    <a:latin typeface="Courier"/>
                  </a:rPr>
                  <a:t>(</a:t>
                </a:r>
                <a:br/>
                <a:r>
                  <a:rPr>
                    <a:solidFill>
                      <a:srgbClr val="003B4F"/>
                    </a:solidFill>
                    <a:latin typeface="Courier"/>
                  </a:rPr>
                  <a:t>    </a:t>
                </a:r>
                <a:r>
                  <a:rPr>
                    <a:solidFill>
                      <a:srgbClr val="657422"/>
                    </a:solidFill>
                    <a:latin typeface="Courier"/>
                  </a:rPr>
                  <a:t>se_null =</a:t>
                </a:r>
                <a:r>
                  <a:rPr>
                    <a:solidFill>
                      <a:srgbClr val="003B4F"/>
                    </a:solidFill>
                    <a:latin typeface="Courier"/>
                  </a:rPr>
                  <a:t> </a:t>
                </a:r>
                <a:r>
                  <a:rPr>
                    <a:solidFill>
                      <a:srgbClr val="4758AB"/>
                    </a:solidFill>
                    <a:latin typeface="Courier"/>
                  </a:rPr>
                  <a:t>sqrt</a:t>
                </a:r>
                <a:r>
                  <a:rPr>
                    <a:solidFill>
                      <a:srgbClr val="003B4F"/>
                    </a:solidFill>
                    <a:latin typeface="Courier"/>
                  </a:rPr>
                  <a:t>(p0 </a:t>
                </a:r>
                <a:r>
                  <a:rPr>
                    <a:solidFill>
                      <a:srgbClr val="5E5E5E"/>
                    </a:solidFill>
                    <a:latin typeface="Courier"/>
                  </a:rPr>
                  <a:t>*</a:t>
                </a:r>
                <a:r>
                  <a:rPr>
                    <a:solidFill>
                      <a:srgbClr val="003B4F"/>
                    </a:solidFill>
                    <a:latin typeface="Courier"/>
                  </a:rPr>
                  <a:t> (</a:t>
                </a:r>
                <a:r>
                  <a:rPr>
                    <a:solidFill>
                      <a:srgbClr val="AD0000"/>
                    </a:solidFill>
                    <a:latin typeface="Courier"/>
                  </a:rPr>
                  <a:t>1</a:t>
                </a:r>
                <a:r>
                  <a:rPr>
                    <a:solidFill>
                      <a:srgbClr val="003B4F"/>
                    </a:solidFill>
                    <a:latin typeface="Courier"/>
                  </a:rPr>
                  <a:t> </a:t>
                </a:r>
                <a:r>
                  <a:rPr>
                    <a:solidFill>
                      <a:srgbClr val="5E5E5E"/>
                    </a:solidFill>
                    <a:latin typeface="Courier"/>
                  </a:rPr>
                  <a:t>-</a:t>
                </a:r>
                <a:r>
                  <a:rPr>
                    <a:solidFill>
                      <a:srgbClr val="003B4F"/>
                    </a:solidFill>
                    <a:latin typeface="Courier"/>
                  </a:rPr>
                  <a:t> p0) </a:t>
                </a:r>
                <a:r>
                  <a:rPr>
                    <a:solidFill>
                      <a:srgbClr val="5E5E5E"/>
                    </a:solidFill>
                    <a:latin typeface="Courier"/>
                  </a:rPr>
                  <a:t>/</a:t>
                </a:r>
                <a:r>
                  <a:rPr>
                    <a:solidFill>
                      <a:srgbClr val="003B4F"/>
                    </a:solidFill>
                    <a:latin typeface="Courier"/>
                  </a:rPr>
                  <a:t> n),</a:t>
                </a:r>
                <a:br/>
                <a:r>
                  <a:rPr>
                    <a:solidFill>
                      <a:srgbClr val="003B4F"/>
                    </a:solidFill>
                    <a:latin typeface="Courier"/>
                  </a:rPr>
                  <a:t>    </a:t>
                </a:r>
                <a:r>
                  <a:rPr>
                    <a:solidFill>
                      <a:srgbClr val="657422"/>
                    </a:solidFill>
                    <a:latin typeface="Courier"/>
                  </a:rPr>
                  <a:t>z =</a:t>
                </a:r>
                <a:r>
                  <a:rPr>
                    <a:solidFill>
                      <a:srgbClr val="003B4F"/>
                    </a:solidFill>
                    <a:latin typeface="Courier"/>
                  </a:rPr>
                  <a:t> (p_hat </a:t>
                </a:r>
                <a:r>
                  <a:rPr>
                    <a:solidFill>
                      <a:srgbClr val="5E5E5E"/>
                    </a:solidFill>
                    <a:latin typeface="Courier"/>
                  </a:rPr>
                  <a:t>-</a:t>
                </a:r>
                <a:r>
                  <a:rPr>
                    <a:solidFill>
                      <a:srgbClr val="003B4F"/>
                    </a:solidFill>
                    <a:latin typeface="Courier"/>
                  </a:rPr>
                  <a:t> p0) </a:t>
                </a:r>
                <a:r>
                  <a:rPr>
                    <a:solidFill>
                      <a:srgbClr val="5E5E5E"/>
                    </a:solidFill>
                    <a:latin typeface="Courier"/>
                  </a:rPr>
                  <a:t>/</a:t>
                </a:r>
                <a:r>
                  <a:rPr>
                    <a:solidFill>
                      <a:srgbClr val="003B4F"/>
                    </a:solidFill>
                    <a:latin typeface="Courier"/>
                  </a:rPr>
                  <a:t> se_null,</a:t>
                </a:r>
                <a:br/>
                <a:r>
                  <a:rPr>
                    <a:solidFill>
                      <a:srgbClr val="003B4F"/>
                    </a:solidFill>
                    <a:latin typeface="Courier"/>
                  </a:rPr>
                  <a:t>    </a:t>
                </a:r>
                <a:r>
                  <a:rPr>
                    <a:solidFill>
                      <a:srgbClr val="657422"/>
                    </a:solidFill>
                    <a:latin typeface="Courier"/>
                  </a:rPr>
                  <a:t>p_value =</a:t>
                </a:r>
                <a:r>
                  <a:rPr>
                    <a:solidFill>
                      <a:srgbClr val="003B4F"/>
                    </a:solidFill>
                    <a:latin typeface="Courier"/>
                  </a:rPr>
                  <a:t> </a:t>
                </a:r>
                <a:r>
                  <a:rPr>
                    <a:solidFill>
                      <a:srgbClr val="AD0000"/>
                    </a:solidFill>
                    <a:latin typeface="Courier"/>
                  </a:rPr>
                  <a:t>1</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4758AB"/>
                    </a:solidFill>
                    <a:latin typeface="Courier"/>
                  </a:rPr>
                  <a:t>pnorm</a:t>
                </a:r>
                <a:r>
                  <a:rPr>
                    <a:solidFill>
                      <a:srgbClr val="003B4F"/>
                    </a:solidFill>
                    <a:latin typeface="Courier"/>
                  </a:rPr>
                  <a:t>(z)</a:t>
                </a:r>
                <a:br/>
                <a:r>
                  <a:rPr>
                    <a:solidFill>
                      <a:srgbClr val="003B4F"/>
                    </a:solidFill>
                    <a:latin typeface="Courier"/>
                  </a:rPr>
                  <a:t>  )</a:t>
                </a:r>
                <a:br/>
                <a:br/>
                <a:r>
                  <a:rPr>
                    <a:solidFill>
                      <a:srgbClr val="003B4F"/>
                    </a:solidFill>
                    <a:latin typeface="Courier"/>
                  </a:rPr>
                  <a:t>summary_df</a:t>
                </a:r>
              </a:p>
              <a:p>
                <a:pPr lvl="0" indent="0">
                  <a:buNone/>
                </a:pPr>
                <a:r>
                  <a:rPr>
                    <a:latin typeface="Courier"/>
                  </a:rPr>
                  <a:t># A tibble: 1 × 5
      n p_hat se_null     z p_value
  &lt;int&gt; &lt;dbl&gt;   &lt;dbl&gt; &lt;dbl&gt;   &lt;dbl&gt;
1   120  0.55  0.0456  1.10   0.137</a:t>
                </a:r>
              </a:p>
              <a:p>
                <a:pPr lvl="0" indent="0" marL="0">
                  <a:buNone/>
                </a:pPr>
                <a:r>
                  <a:rPr b="1"/>
                  <a:t>Interpretation</a:t>
                </a:r>
              </a:p>
              <a:p>
                <a:pPr lvl="0"/>
                <a:r>
                  <a:rPr/>
                  <a:t>observed response proportion: </a:t>
                </a:r>
                <a14:m>
                  <m:oMath xmlns:m="http://schemas.openxmlformats.org/officeDocument/2006/math">
                    <m:sSub>
                      <m:e>
                        <m:r>
                          <m:t>p</m:t>
                        </m:r>
                      </m:e>
                      <m:sub>
                        <m:r>
                          <m:t>h</m:t>
                        </m:r>
                        <m:r>
                          <m:t>a</m:t>
                        </m:r>
                        <m:r>
                          <m:t>t</m:t>
                        </m:r>
                      </m:sub>
                    </m:sSub>
                    <m:r>
                      <m:rPr>
                        <m:sty m:val="p"/>
                      </m:rPr>
                      <m:t>=</m:t>
                    </m:r>
                    <m:r>
                      <m:t>0.55</m:t>
                    </m:r>
                  </m:oMath>
                </a14:m>
              </a:p>
              <a:p>
                <a:pPr lvl="0"/>
                <a:r>
                  <a:rPr/>
                  <a:t>z statistic: </a:t>
                </a:r>
                <a14:m>
                  <m:oMath xmlns:m="http://schemas.openxmlformats.org/officeDocument/2006/math">
                    <m:r>
                      <m:t>z</m:t>
                    </m:r>
                    <m:r>
                      <m:rPr>
                        <m:sty m:val="p"/>
                      </m:rPr>
                      <m:t>=</m:t>
                    </m:r>
                    <m:r>
                      <m:t>1.10</m:t>
                    </m:r>
                  </m:oMath>
                </a14:m>
              </a:p>
              <a:p>
                <a:pPr lvl="0"/>
                <a:r>
                  <a:rPr/>
                  <a:t>sample proportion is approximately 1.1 standard errors above the null hypothesis value</a:t>
                </a:r>
              </a:p>
              <a:p>
                <a:pPr lvl="0"/>
                <a:r>
                  <a:rPr/>
                  <a:t>p=0.137</a:t>
                </a:r>
              </a:p>
              <a:p>
                <a:pPr lvl="0"/>
                <a:r>
                  <a:rPr/>
                  <a:t>fail to reject </a:t>
                </a:r>
                <a14:m>
                  <m:oMath xmlns:m="http://schemas.openxmlformats.org/officeDocument/2006/math">
                    <m:sSub>
                      <m:e>
                        <m:r>
                          <m:t>H</m:t>
                        </m:r>
                      </m:e>
                      <m:sub>
                        <m:r>
                          <m:t>0</m:t>
                        </m:r>
                      </m:sub>
                    </m:sSub>
                  </m:oMath>
                </a14:m>
                <a:r>
                  <a:rPr/>
                  <a:t> : sample provides insufficient evidence that the population tumor response probability is greater than 50%</a:t>
                </a:r>
              </a:p>
            </p:txBody>
          </p:sp>
        </mc:Choice>
      </mc:AlternateContent>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Check Assumptions</a:t>
            </a:r>
          </a:p>
          <a:p>
            <a:pPr lvl="0" indent="0" marL="0">
              <a:buNone/>
            </a:pPr>
            <a:r>
              <a:rPr b="1"/>
              <a:t>Step 6. Check model assumptions</a:t>
            </a:r>
          </a:p>
          <a:p>
            <a:pPr lvl="0"/>
            <a:r>
              <a:rPr/>
              <a:t>checking assumptions helps validate test conditions</a:t>
            </a:r>
          </a:p>
          <a:p>
            <a:pPr lvl="0"/>
            <a:r>
              <a:rPr/>
              <a:t>test statistic and p-value are reliable when the assumptions underlying the hypothesis test are approximately satisfied</a:t>
            </a:r>
          </a:p>
          <a:p>
            <a:pPr lvl="0" indent="0" marL="0">
              <a:buNone/>
            </a:pPr>
            <a:r>
              <a:rPr/>
              <a:t>one-sample z test depends on the following assumptions:</a:t>
            </a:r>
          </a:p>
          <a:p>
            <a:pPr lvl="0"/>
            <a:r>
              <a:rPr/>
              <a:t>observations are independent</a:t>
            </a:r>
            <a:br/>
          </a:p>
          <a:p>
            <a:pPr lvl="0"/>
            <a:r>
              <a:rPr/>
              <a:t>outcome is binary [response vs no response]</a:t>
            </a:r>
            <a:br/>
          </a:p>
          <a:p>
            <a:pPr lvl="0"/>
            <a:r>
              <a:rPr/>
              <a:t>data follow a binomial model</a:t>
            </a:r>
            <a:br/>
          </a:p>
          <a:p>
            <a:pPr lvl="0"/>
            <a:r>
              <a:rPr/>
              <a:t>sample size is large enough for the normal approximation</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Calculate test statistic and determine p-value</a:t>
                </a:r>
              </a:p>
              <a:p>
                <a:pPr lvl="0" indent="0" marL="0">
                  <a:buNone/>
                </a:pPr>
                <a:r>
                  <a:rPr b="1"/>
                  <a:t>Steps 7: Calculate test statistic and relevant values</a:t>
                </a:r>
              </a:p>
              <a:p>
                <a:pPr lvl="0" indent="0" marL="0">
                  <a:buNone/>
                </a:pPr>
                <a:r>
                  <a:rPr b="1"/>
                  <a:t>Task</a:t>
                </a:r>
                <a:r>
                  <a:rPr/>
                  <a:t>: Collect a new sample [n=100] and address the following:</a:t>
                </a:r>
              </a:p>
              <a:p>
                <a:pPr lvl="0" indent="0" marL="1270000">
                  <a:buNone/>
                </a:pPr>
                <a:r>
                  <a:rPr sz="2000"/>
                  <a:t>If the true population tumor response probability is 0.50, how likely would it be to observe a sample response proportion at least as large as the one observed?</a:t>
                </a:r>
              </a:p>
              <a:p>
                <a:pPr lvl="0" indent="0" marL="0">
                  <a:buNone/>
                </a:pPr>
                <a:r>
                  <a:rPr/>
                  <a:t>Null hypothesis:</a:t>
                </a:r>
              </a:p>
              <a:p>
                <a:pPr lvl="0" indent="0" marL="0">
                  <a:buNone/>
                </a:pPr>
                <a14:m>
                  <m:oMathPara xmlns:m="http://schemas.openxmlformats.org/officeDocument/2006/math">
                    <m:oMathParaPr>
                      <m:jc m:val="center"/>
                    </m:oMathParaPr>
                    <m:oMath>
                      <m:sSub>
                        <m:e>
                          <m:r>
                            <m:t>H</m:t>
                          </m:r>
                        </m:e>
                        <m:sub>
                          <m:r>
                            <m:t>0</m:t>
                          </m:r>
                        </m:sub>
                      </m:sSub>
                      <m:r>
                        <m:rPr>
                          <m:sty m:val="p"/>
                        </m:rPr>
                        <m:t>:</m:t>
                      </m:r>
                      <m:r>
                        <m:t>p</m:t>
                      </m:r>
                      <m:r>
                        <m:rPr>
                          <m:sty m:val="p"/>
                        </m:rPr>
                        <m:t>=</m:t>
                      </m:r>
                      <m:r>
                        <m:t>0.50</m:t>
                      </m:r>
                    </m:oMath>
                  </m:oMathPara>
                </a14:m>
              </a:p>
              <a:p>
                <a:pPr lvl="0" indent="0" marL="0">
                  <a:buNone/>
                </a:pPr>
                <a:r>
                  <a:rPr/>
                  <a:t>Alternative hypothesis:</a:t>
                </a:r>
              </a:p>
              <a:p>
                <a:pPr lvl="0" indent="0" marL="0">
                  <a:buNone/>
                </a:pPr>
                <a14:m>
                  <m:oMathPara xmlns:m="http://schemas.openxmlformats.org/officeDocument/2006/math">
                    <m:oMathParaPr>
                      <m:jc m:val="center"/>
                    </m:oMathParaPr>
                    <m:oMath>
                      <m:sSub>
                        <m:e>
                          <m:r>
                            <m:t>H</m:t>
                          </m:r>
                        </m:e>
                        <m:sub>
                          <m:r>
                            <m:t>A</m:t>
                          </m:r>
                        </m:sub>
                      </m:sSub>
                      <m:r>
                        <m:rPr>
                          <m:sty m:val="p"/>
                        </m:rPr>
                        <m:t>:</m:t>
                      </m:r>
                      <m:r>
                        <m:t>p</m:t>
                      </m:r>
                      <m:r>
                        <m:rPr>
                          <m:sty m:val="p"/>
                        </m:rPr>
                        <m:t>&gt;</m:t>
                      </m:r>
                      <m:r>
                        <m:t>0.50</m:t>
                      </m:r>
                    </m:oMath>
                  </m:oMathPara>
                </a14:m>
              </a:p>
            </p:txBody>
          </p:sp>
        </mc:Choice>
      </mc:AlternateContent>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Calculate test statistic and determine p-value</a:t>
                </a:r>
              </a:p>
              <a:p>
                <a:pPr lvl="0" indent="0" marL="0">
                  <a:buNone/>
                </a:pPr>
                <a:r>
                  <a:rPr b="1"/>
                  <a:t>Steps 7: Calculate test statistic and relevant values</a:t>
                </a:r>
              </a:p>
              <a:p>
                <a:pPr lvl="0"/>
                <a:r>
                  <a:rPr/>
                  <a:t>calculate observed test statistic: </a:t>
                </a:r>
                <a:r>
                  <a:rPr b="1"/>
                  <a:t>one-sample z statistic</a:t>
                </a:r>
              </a:p>
              <a:p>
                <a:pPr lvl="0" indent="0" marL="0">
                  <a:buNone/>
                </a:pPr>
                <a:r>
                  <a:rPr/>
                  <a:t>Suppose:</a:t>
                </a:r>
              </a:p>
              <a:p>
                <a:pPr lvl="0" indent="0" marL="0">
                  <a:buNone/>
                </a:pPr>
                <a14:m>
                  <m:oMath xmlns:m="http://schemas.openxmlformats.org/officeDocument/2006/math">
                    <m:r>
                      <m:t>α</m:t>
                    </m:r>
                  </m:oMath>
                </a14:m>
                <a:r>
                  <a:rPr/>
                  <a:t>: 0.05</a:t>
                </a:r>
              </a:p>
              <a:p>
                <a:pPr lvl="0" indent="0" marL="0">
                  <a:buNone/>
                </a:pPr>
                <a14:m>
                  <m:oMath xmlns:m="http://schemas.openxmlformats.org/officeDocument/2006/math">
                    <m:acc>
                      <m:accPr>
                        <m:chr m:val="̂"/>
                      </m:accPr>
                      <m:e>
                        <m:r>
                          <m:t>p</m:t>
                        </m:r>
                      </m:e>
                    </m:acc>
                  </m:oMath>
                </a14:m>
                <a:r>
                  <a:rPr/>
                  <a:t> = 0.64 [observed sample tumor response probability is 64%]</a:t>
                </a:r>
              </a:p>
              <a:p>
                <a:pPr lvl="0" indent="0" marL="0">
                  <a:buNone/>
                </a:pPr>
                <a14:m>
                  <m:oMath xmlns:m="http://schemas.openxmlformats.org/officeDocument/2006/math">
                    <m:sSub>
                      <m:e>
                        <m:r>
                          <m:t>p</m:t>
                        </m:r>
                      </m:e>
                      <m:sub>
                        <m:r>
                          <m:t>0</m:t>
                        </m:r>
                      </m:sub>
                    </m:sSub>
                  </m:oMath>
                </a14:m>
                <a:r>
                  <a:rPr/>
                  <a:t> = 0.5</a:t>
                </a:r>
              </a:p>
              <a:p>
                <a:pPr lvl="0" indent="0" marL="0">
                  <a:buNone/>
                </a:pPr>
                <a:r>
                  <a:rPr/>
                  <a:t>n = 100</a:t>
                </a:r>
              </a:p>
              <a:p>
                <a:pPr lvl="0" indent="0" marL="0">
                  <a:buNone/>
                </a:pPr>
                <a:r>
                  <a:rPr/>
                  <a:t>Calculate standard error:</a:t>
                </a:r>
              </a:p>
              <a:p>
                <a:pPr lvl="0" indent="0" marL="0">
                  <a:buNone/>
                </a:pPr>
                <a:r>
                  <a:rPr/>
                  <a:t>measure of how much the sample proportion would typically vary across repeated random samples when </a:t>
                </a:r>
                <a14:m>
                  <m:oMath xmlns:m="http://schemas.openxmlformats.org/officeDocument/2006/math">
                    <m:sSub>
                      <m:e>
                        <m:r>
                          <m:t>p</m:t>
                        </m:r>
                      </m:e>
                      <m:sub>
                        <m:r>
                          <m:t>0</m:t>
                        </m:r>
                      </m:sub>
                    </m:sSub>
                    <m:r>
                      <m:rPr>
                        <m:sty m:val="p"/>
                      </m:rPr>
                      <m:t>=</m:t>
                    </m:r>
                    <m:r>
                      <m:t>0.50</m:t>
                    </m:r>
                  </m:oMath>
                </a14:m>
              </a:p>
              <a:p>
                <a:pPr lvl="0" indent="0">
                  <a:buNone/>
                </a:pPr>
                <a:r>
                  <a:rPr>
                    <a:latin typeface="Courier"/>
                  </a:rPr>
                  <a:t>Standard error = 0.05</a:t>
                </a:r>
              </a:p>
            </p:txBody>
          </p:sp>
        </mc:Choice>
      </mc:AlternateContent>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Calculate test statistic and determine p-value</a:t>
                </a:r>
              </a:p>
              <a:p>
                <a:pPr lvl="0" indent="0" marL="0">
                  <a:buNone/>
                </a:pPr>
                <a:r>
                  <a:rPr b="1"/>
                  <a:t>Steps 7: Calculate test statistic and relevant values</a:t>
                </a:r>
              </a:p>
              <a:p>
                <a:pPr lvl="0" indent="0" marL="0">
                  <a:buNone/>
                </a:pPr>
                <a:r>
                  <a:rPr/>
                  <a:t>Calculate z statistic:</a:t>
                </a:r>
              </a:p>
              <a:p>
                <a:pPr lvl="0" indent="0" marL="0">
                  <a:buNone/>
                </a:pPr>
                <a14:m>
                  <m:oMathPara xmlns:m="http://schemas.openxmlformats.org/officeDocument/2006/math">
                    <m:oMathParaPr>
                      <m:jc m:val="center"/>
                    </m:oMathParaPr>
                    <m:oMath>
                      <m:r>
                        <m:t>z</m:t>
                      </m:r>
                      <m:r>
                        <m:rPr>
                          <m:sty m:val="p"/>
                        </m:rPr>
                        <m:t>=</m:t>
                      </m:r>
                      <m:f>
                        <m:fPr>
                          <m:type m:val="bar"/>
                        </m:fPr>
                        <m:num>
                          <m:r>
                            <m:t>0.64</m:t>
                          </m:r>
                          <m:r>
                            <m:rPr>
                              <m:sty m:val="p"/>
                            </m:rPr>
                            <m:t>−</m:t>
                          </m:r>
                          <m:r>
                            <m:t>0.5</m:t>
                          </m:r>
                        </m:num>
                        <m:den>
                          <m:rad>
                            <m:radPr>
                              <m:degHide m:val="on"/>
                            </m:radPr>
                            <m:deg/>
                            <m:e>
                              <m:f>
                                <m:fPr>
                                  <m:type m:val="bar"/>
                                </m:fPr>
                                <m:num>
                                  <m:r>
                                    <m:t>0.5</m:t>
                                  </m:r>
                                  <m:d>
                                    <m:dPr>
                                      <m:begChr m:val="("/>
                                      <m:sepChr m:val=""/>
                                      <m:endChr m:val=")"/>
                                      <m:grow/>
                                    </m:dPr>
                                    <m:e>
                                      <m:r>
                                        <m:t>1</m:t>
                                      </m:r>
                                      <m:r>
                                        <m:rPr>
                                          <m:sty m:val="p"/>
                                        </m:rPr>
                                        <m:t>−</m:t>
                                      </m:r>
                                      <m:r>
                                        <m:t>0.5</m:t>
                                      </m:r>
                                    </m:e>
                                  </m:d>
                                </m:num>
                                <m:den>
                                  <m:r>
                                    <m:t>100</m:t>
                                  </m:r>
                                </m:den>
                              </m:f>
                            </m:e>
                          </m:rad>
                        </m:den>
                      </m:f>
                    </m:oMath>
                  </m:oMathPara>
                </a14:m>
              </a:p>
              <a:p>
                <a:pPr lvl="0" indent="0">
                  <a:buNone/>
                </a:pPr>
                <a:r>
                  <a:rPr>
                    <a:latin typeface="Courier"/>
                  </a:rPr>
                  <a:t>Z-score = 2.8 
 p-value = 0.00255513</a:t>
                </a:r>
              </a:p>
              <a:p>
                <a:pPr lvl="0"/>
                <a:r>
                  <a:rPr/>
                  <a:t>observed sample proportion is 2.8 standard errors above the null hypothesis value of 0.50 </a:t>
                </a:r>
                <a14:m>
                  <m:oMath xmlns:m="http://schemas.openxmlformats.org/officeDocument/2006/math">
                    <m:r>
                      <m:rPr>
                        <m:sty m:val="p"/>
                      </m:rPr>
                      <m:t>→</m:t>
                    </m:r>
                  </m:oMath>
                </a14:m>
                <a:r>
                  <a:rPr/>
                  <a:t> evidence that the population response probability is greater than 50%</a:t>
                </a:r>
              </a:p>
              <a:p>
                <a:pPr lvl="0"/>
                <a:r>
                  <a:rPr/>
                  <a:t>p-value is less than </a:t>
                </a:r>
                <a14:m>
                  <m:oMath xmlns:m="http://schemas.openxmlformats.org/officeDocument/2006/math">
                    <m:r>
                      <m:t>α</m:t>
                    </m:r>
                    <m:r>
                      <m:rPr>
                        <m:sty m:val="p"/>
                      </m:rPr>
                      <m:t>=</m:t>
                    </m:r>
                    <m:r>
                      <m:t>0.05</m:t>
                    </m:r>
                  </m:oMath>
                </a14:m>
                <a:r>
                  <a:rPr/>
                  <a:t> we reject </a:t>
                </a:r>
                <a14:m>
                  <m:oMath xmlns:m="http://schemas.openxmlformats.org/officeDocument/2006/math">
                    <m:sSub>
                      <m:e>
                        <m:r>
                          <m:t>H</m:t>
                        </m:r>
                      </m:e>
                      <m:sub>
                        <m:r>
                          <m:t>0</m:t>
                        </m:r>
                      </m:sub>
                    </m:sSub>
                  </m:oMath>
                </a14:m>
              </a:p>
              <a:p>
                <a:pPr lvl="0"/>
                <a:r>
                  <a:rPr/>
                  <a:t>sample provides evidence that the population tumor response probability is greater than 50%</a:t>
                </a:r>
              </a:p>
            </p:txBody>
          </p:sp>
        </mc:Choice>
      </mc:AlternateContent>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Calculate test statistic and determine p-value</a:t>
                </a:r>
              </a:p>
              <a:p>
                <a:pPr lvl="0" indent="0" marL="0">
                  <a:buNone/>
                </a:pPr>
                <a:r>
                  <a:rPr b="1"/>
                  <a:t>Steps 8: Determine p-value associated with test statistic</a:t>
                </a:r>
              </a:p>
              <a:p>
                <a:pPr lvl="0" indent="0" marL="0">
                  <a:buNone/>
                </a:pPr>
                <a:r>
                  <a:rPr b="1"/>
                  <a:t>p-value</a:t>
                </a:r>
                <a:r>
                  <a:rPr/>
                  <a:t> is:</a:t>
                </a:r>
              </a:p>
              <a:p>
                <a:pPr lvl="0"/>
                <a:r>
                  <a:rPr/>
                  <a:t>measure of inconsistency between the hypothesized value for a population characteristic and the observed sample</a:t>
                </a:r>
              </a:p>
              <a:p>
                <a:pPr lvl="0"/>
                <a:r>
                  <a:rPr/>
                  <a:t>probability of obtaining a test statistic value at least as inconsistent with as what was observed</a:t>
                </a:r>
              </a:p>
              <a:p>
                <a:pPr lvl="0"/>
                <a:r>
                  <a:rPr/>
                  <a:t>quantifies the strength of evidence against </a:t>
                </a:r>
                <a14:m>
                  <m:oMath xmlns:m="http://schemas.openxmlformats.org/officeDocument/2006/math">
                    <m:sSub>
                      <m:e>
                        <m:r>
                          <m:t>H</m:t>
                        </m:r>
                      </m:e>
                      <m:sub>
                        <m:r>
                          <m:t>0</m:t>
                        </m:r>
                      </m:sub>
                    </m:sSub>
                  </m:oMath>
                </a14:m>
              </a:p>
              <a:p>
                <a:pPr lvl="0" indent="0" marL="0">
                  <a:buNone/>
                </a:pPr>
                <a:r>
                  <a:rPr/>
                  <a:t>In research example:</a:t>
                </a:r>
              </a:p>
              <a:p>
                <a:pPr lvl="0" indent="0" marL="0">
                  <a:buNone/>
                </a:pPr>
                <a14:m>
                  <m:oMathPara xmlns:m="http://schemas.openxmlformats.org/officeDocument/2006/math">
                    <m:oMathParaPr>
                      <m:jc m:val="center"/>
                    </m:oMathParaPr>
                    <m:oMath>
                      <m:r>
                        <m:t>p</m:t>
                      </m:r>
                      <m:r>
                        <m:rPr>
                          <m:sty m:val="p"/>
                        </m:rPr>
                        <m:t>=</m:t>
                      </m:r>
                      <m:r>
                        <m:rPr>
                          <m:nor/>
                          <m:sty m:val="p"/>
                        </m:rPr>
                        <m:t>population probability of tumor response among biomarker-positive patients</m:t>
                      </m:r>
                    </m:oMath>
                  </m:oMathPara>
                </a14:m>
              </a:p>
            </p:txBody>
          </p:sp>
        </mc:Choice>
      </mc:AlternateContent>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Visualizing the p-Value</a:t>
                </a:r>
              </a:p>
              <a:p>
                <a:pPr lvl="0" indent="0" marL="0">
                  <a:buNone/>
                </a:pPr>
              </a:p>
              <a:p>
                <a:pPr lvl="0" indent="0" marL="0">
                  <a:buNone/>
                </a:pPr>
                <a:r>
                  <a:rPr b="1"/>
                  <a:t>Interpretation</a:t>
                </a:r>
              </a:p>
              <a:p>
                <a:pPr lvl="0" indent="0" marL="0">
                  <a:buNone/>
                </a:pPr>
                <a:r>
                  <a:rPr/>
                  <a:t>bell-shaped curve represents the null distribution of the z statistic assuming: </a:t>
                </a:r>
                <a14:m>
                  <m:oMath xmlns:m="http://schemas.openxmlformats.org/officeDocument/2006/math">
                    <m:sSub>
                      <m:e>
                        <m:r>
                          <m:t>H</m:t>
                        </m:r>
                      </m:e>
                      <m:sub>
                        <m:r>
                          <m:t>0</m:t>
                        </m:r>
                      </m:sub>
                    </m:sSub>
                    <m:r>
                      <m:rPr>
                        <m:sty m:val="p"/>
                      </m:rPr>
                      <m:t>:</m:t>
                    </m:r>
                    <m:r>
                      <m:t>p</m:t>
                    </m:r>
                    <m:r>
                      <m:rPr>
                        <m:sty m:val="p"/>
                      </m:rPr>
                      <m:t>=</m:t>
                    </m:r>
                    <m:r>
                      <m:t>0.50</m:t>
                    </m:r>
                  </m:oMath>
                </a14:m>
              </a:p>
              <a:p>
                <a:pPr lvl="0" indent="0" marL="0">
                  <a:buNone/>
                </a:pPr>
                <a:r>
                  <a:rPr/>
                  <a:t>Interpretation of regions:</a:t>
                </a:r>
              </a:p>
              <a:p>
                <a:pPr lvl="0"/>
                <a:r>
                  <a:rPr/>
                  <a:t>values near the center of the curve are commonly expected if </a:t>
                </a:r>
                <a14:m>
                  <m:oMath xmlns:m="http://schemas.openxmlformats.org/officeDocument/2006/math">
                    <m:sSub>
                      <m:e>
                        <m:r>
                          <m:t>H</m:t>
                        </m:r>
                      </m:e>
                      <m:sub>
                        <m:r>
                          <m:t>0</m:t>
                        </m:r>
                      </m:sub>
                    </m:sSub>
                  </m:oMath>
                </a14:m>
                <a:r>
                  <a:rPr/>
                  <a:t> is true</a:t>
                </a:r>
                <a:br/>
              </a:p>
              <a:p>
                <a:pPr lvl="0"/>
                <a:r>
                  <a:rPr/>
                  <a:t>values far into the tail are less likely under </a:t>
                </a:r>
                <a14:m>
                  <m:oMath xmlns:m="http://schemas.openxmlformats.org/officeDocument/2006/math">
                    <m:sSub>
                      <m:e>
                        <m:r>
                          <m:t>H</m:t>
                        </m:r>
                      </m:e>
                      <m:sub>
                        <m:r>
                          <m:t>0</m:t>
                        </m:r>
                      </m:sub>
                    </m:sSub>
                  </m:oMath>
                </a14:m>
              </a:p>
            </p:txBody>
          </p:sp>
        </mc:Choice>
      </mc:AlternateContent>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Visualizing the p-Value</a:t>
                </a:r>
              </a:p>
              <a:p>
                <a:pPr lvl="0" indent="0" marL="0">
                  <a:buNone/>
                </a:pPr>
              </a:p>
              <a:p>
                <a:pPr lvl="0" indent="0" marL="0">
                  <a:buNone/>
                </a:pPr>
                <a:r>
                  <a:rPr b="1"/>
                  <a:t>Plot Interpretation</a:t>
                </a:r>
              </a:p>
              <a:p>
                <a:pPr lvl="0" indent="0" marL="0">
                  <a:buNone/>
                </a:pPr>
                <a:r>
                  <a:rPr/>
                  <a:t>Blue Line: critical value for </a:t>
                </a:r>
                <a14:m>
                  <m:oMath xmlns:m="http://schemas.openxmlformats.org/officeDocument/2006/math">
                    <m:r>
                      <m:t>α</m:t>
                    </m:r>
                    <m:r>
                      <m:rPr>
                        <m:sty m:val="p"/>
                      </m:rPr>
                      <m:t>=</m:t>
                    </m:r>
                    <m:r>
                      <m:t>0.05</m:t>
                    </m:r>
                  </m:oMath>
                </a14:m>
              </a:p>
              <a:p>
                <a:pPr lvl="0"/>
                <a:r>
                  <a:rPr/>
                  <a:t>standard normal distribution for a one-sided hypothesis test with: </a:t>
                </a:r>
                <a14:m>
                  <m:oMath xmlns:m="http://schemas.openxmlformats.org/officeDocument/2006/math">
                    <m:r>
                      <m:t>α</m:t>
                    </m:r>
                    <m:r>
                      <m:rPr>
                        <m:sty m:val="p"/>
                      </m:rPr>
                      <m:t>=</m:t>
                    </m:r>
                    <m:r>
                      <m:t>0.05</m:t>
                    </m:r>
                  </m:oMath>
                </a14:m>
              </a:p>
              <a:p>
                <a:pPr lvl="0"/>
                <a:r>
                  <a:rPr/>
                  <a:t>z-score has 95% of the standard normal distribution below value: </a:t>
                </a:r>
                <a:r>
                  <a:rPr>
                    <a:latin typeface="Courier"/>
                  </a:rPr>
                  <a:t>qnorm(0.95) = 1.645</a:t>
                </a:r>
              </a:p>
              <a:p>
                <a:pPr lvl="0"/>
                <a:r>
                  <a:rPr/>
                  <a:t>identify cutoff where only 5% of the distribution lies to the right: </a:t>
                </a:r>
                <a14:m>
                  <m:oMath xmlns:m="http://schemas.openxmlformats.org/officeDocument/2006/math">
                    <m:r>
                      <m:t>P</m:t>
                    </m:r>
                    <m:d>
                      <m:dPr>
                        <m:begChr m:val="("/>
                        <m:sepChr m:val=""/>
                        <m:endChr m:val=")"/>
                        <m:grow/>
                      </m:dPr>
                      <m:e>
                        <m:r>
                          <m:t>Z</m:t>
                        </m:r>
                        <m:r>
                          <m:rPr>
                            <m:sty m:val="p"/>
                          </m:rPr>
                          <m:t>≥</m:t>
                        </m:r>
                        <m:r>
                          <m:t>1.645</m:t>
                        </m:r>
                      </m:e>
                    </m:d>
                    <m:r>
                      <m:rPr>
                        <m:sty m:val="p"/>
                      </m:rPr>
                      <m:t>=</m:t>
                    </m:r>
                    <m:r>
                      <m:t>0.05</m:t>
                    </m:r>
                  </m:oMath>
                </a14:m>
              </a:p>
            </p:txBody>
          </p:sp>
        </mc:Choice>
      </mc:AlternateContent>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Visualizing the p-Value</a:t>
                </a:r>
              </a:p>
              <a:p>
                <a:pPr lvl="0" indent="0" marL="0">
                  <a:buNone/>
                </a:pPr>
              </a:p>
              <a:p>
                <a:pPr lvl="0" indent="0" marL="0">
                  <a:buNone/>
                </a:pPr>
                <a:r>
                  <a:rPr b="1"/>
                  <a:t>Plot Interpretation</a:t>
                </a:r>
              </a:p>
              <a:p>
                <a:pPr lvl="0" indent="0" marL="0">
                  <a:buNone/>
                </a:pPr>
                <a:r>
                  <a:rPr/>
                  <a:t>If the null hypothesis is true:</a:t>
                </a:r>
              </a:p>
              <a:p>
                <a:pPr lvl="0"/>
                <a:r>
                  <a:rPr/>
                  <a:t>about 95% of z statistics fall below 1.645</a:t>
                </a:r>
                <a:br/>
              </a:p>
              <a:p>
                <a:pPr lvl="0"/>
                <a:r>
                  <a:rPr/>
                  <a:t>about 5% fall above 1.645</a:t>
                </a:r>
              </a:p>
              <a:p>
                <a:pPr lvl="0" indent="0">
                  <a:buNone/>
                </a:pPr>
                <a:r>
                  <a:rPr>
                    <a:solidFill>
                      <a:srgbClr val="4758AB"/>
                    </a:solidFill>
                    <a:latin typeface="Courier"/>
                  </a:rPr>
                  <a:t>qnorm</a:t>
                </a:r>
                <a:r>
                  <a:rPr>
                    <a:solidFill>
                      <a:srgbClr val="003B4F"/>
                    </a:solidFill>
                    <a:latin typeface="Courier"/>
                  </a:rPr>
                  <a:t>(</a:t>
                </a:r>
                <a:r>
                  <a:rPr>
                    <a:solidFill>
                      <a:srgbClr val="AD0000"/>
                    </a:solidFill>
                    <a:latin typeface="Courier"/>
                  </a:rPr>
                  <a:t>0.95</a:t>
                </a:r>
                <a:r>
                  <a:rPr>
                    <a:solidFill>
                      <a:srgbClr val="003B4F"/>
                    </a:solidFill>
                    <a:latin typeface="Courier"/>
                  </a:rPr>
                  <a:t>)</a:t>
                </a:r>
              </a:p>
              <a:p>
                <a:pPr lvl="0" indent="0">
                  <a:buNone/>
                </a:pPr>
                <a:r>
                  <a:rPr>
                    <a:latin typeface="Courier"/>
                  </a:rPr>
                  <a:t>[1] 1.644854</a:t>
                </a:r>
              </a:p>
              <a:p>
                <a:pPr lvl="0" indent="0" marL="0">
                  <a:buNone/>
                </a:pPr>
                <a:r>
                  <a:rPr/>
                  <a:t>observed value falls in the upper tail of the null distribution</a:t>
                </a:r>
              </a:p>
              <a:p>
                <a:pPr lvl="0"/>
                <a:r>
                  <a:rPr/>
                  <a:t>if the observed z statistic falls far into the right tail: evidence supports </a:t>
                </a:r>
                <a14:m>
                  <m:oMath xmlns:m="http://schemas.openxmlformats.org/officeDocument/2006/math">
                    <m:sSub>
                      <m:e>
                        <m:r>
                          <m:t>H</m:t>
                        </m:r>
                      </m:e>
                      <m:sub>
                        <m:r>
                          <m:t>A</m:t>
                        </m:r>
                      </m:sub>
                    </m:sSub>
                  </m:oMath>
                </a14:m>
              </a:p>
              <a:p>
                <a:pPr lvl="0"/>
                <a:r>
                  <a:rPr/>
                  <a:t>if the observed z statistic falls near the center: insufficient evidence against </a:t>
                </a:r>
                <a14:m>
                  <m:oMath xmlns:m="http://schemas.openxmlformats.org/officeDocument/2006/math">
                    <m:sSub>
                      <m:e>
                        <m:r>
                          <m:t>H</m:t>
                        </m:r>
                      </m:e>
                      <m:sub>
                        <m:r>
                          <m:t>0</m:t>
                        </m:r>
                      </m:sub>
                    </m:sSub>
                  </m:oMath>
                </a14:m>
              </a:p>
              <a:p>
                <a:pPr lvl="0"/>
                <a:r>
                  <a:rPr/>
                  <a:t>if the observed z statistic falls into the left tail</a:t>
                </a:r>
              </a:p>
              <a:p>
                <a:pPr lvl="1" indent="0" marL="342900">
                  <a:buNone/>
                </a:pPr>
                <a:r>
                  <a:rPr/>
                  <a:t>→ the data move in the opposite direction from the alternative hypothesis → results do not provide evidence against </a:t>
                </a:r>
                <a14:m>
                  <m:oMath xmlns:m="http://schemas.openxmlformats.org/officeDocument/2006/math">
                    <m:sSub>
                      <m:e>
                        <m:r>
                          <m:t>H</m:t>
                        </m:r>
                      </m:e>
                      <m:sub>
                        <m:r>
                          <m:t>0</m:t>
                        </m:r>
                      </m:sub>
                    </m:sSub>
                  </m:oMath>
                </a14:m>
                <a:r>
                  <a:rPr/>
                  <a:t> in the direction required by the alternative hypothesis </a:t>
                </a:r>
                <a14:m>
                  <m:oMath xmlns:m="http://schemas.openxmlformats.org/officeDocument/2006/math">
                    <m:sSub>
                      <m:e>
                        <m:r>
                          <m:t>H</m:t>
                        </m:r>
                      </m:e>
                      <m:sub>
                        <m:r>
                          <m:t>A</m:t>
                        </m:r>
                      </m:sub>
                    </m:sSub>
                    <m:r>
                      <m:rPr>
                        <m:sty m:val="p"/>
                      </m:rPr>
                      <m:t>:</m:t>
                    </m:r>
                    <m:r>
                      <m:t>p</m:t>
                    </m:r>
                    <m:r>
                      <m:rPr>
                        <m:sty m:val="p"/>
                      </m:rPr>
                      <m:t>&gt;</m:t>
                    </m:r>
                    <m:r>
                      <m:t>0.5</m:t>
                    </m:r>
                  </m:oMath>
                </a14:m>
              </a:p>
            </p:txBody>
          </p:sp>
        </mc:Choice>
      </mc:AlternateContent>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Visualizing the p-Value</a:t>
                </a:r>
              </a:p>
              <a:p>
                <a:pPr lvl="0" indent="0" marL="0">
                  <a:buNone/>
                </a:pPr>
              </a:p>
              <a:p>
                <a:pPr lvl="0" indent="0" marL="0">
                  <a:buNone/>
                </a:pPr>
                <a:r>
                  <a:rPr b="1"/>
                  <a:t>Plot Interpretation</a:t>
                </a:r>
              </a:p>
              <a:p>
                <a:pPr lvl="0" indent="0" marL="0">
                  <a:buNone/>
                </a:pPr>
                <a:r>
                  <a:rPr/>
                  <a:t>If the null hypothesis is true:</a:t>
                </a:r>
              </a:p>
              <a:p>
                <a:pPr lvl="0"/>
                <a:r>
                  <a:rPr/>
                  <a:t>about 95% of z statistics fall below 1.645</a:t>
                </a:r>
                <a:br/>
              </a:p>
              <a:p>
                <a:pPr lvl="0"/>
                <a:r>
                  <a:rPr/>
                  <a:t>about 5% fall above 1.645</a:t>
                </a:r>
              </a:p>
              <a:p>
                <a:pPr lvl="0" indent="0">
                  <a:buNone/>
                </a:pPr>
                <a:r>
                  <a:rPr>
                    <a:solidFill>
                      <a:srgbClr val="4758AB"/>
                    </a:solidFill>
                    <a:latin typeface="Courier"/>
                  </a:rPr>
                  <a:t>qnorm</a:t>
                </a:r>
                <a:r>
                  <a:rPr>
                    <a:solidFill>
                      <a:srgbClr val="003B4F"/>
                    </a:solidFill>
                    <a:latin typeface="Courier"/>
                  </a:rPr>
                  <a:t>(</a:t>
                </a:r>
                <a:r>
                  <a:rPr>
                    <a:solidFill>
                      <a:srgbClr val="AD0000"/>
                    </a:solidFill>
                    <a:latin typeface="Courier"/>
                  </a:rPr>
                  <a:t>0.95</a:t>
                </a:r>
                <a:r>
                  <a:rPr>
                    <a:solidFill>
                      <a:srgbClr val="003B4F"/>
                    </a:solidFill>
                    <a:latin typeface="Courier"/>
                  </a:rPr>
                  <a:t>)</a:t>
                </a:r>
              </a:p>
              <a:p>
                <a:pPr lvl="0" indent="0">
                  <a:buNone/>
                </a:pPr>
                <a:r>
                  <a:rPr>
                    <a:latin typeface="Courier"/>
                  </a:rPr>
                  <a:t>[1] 1.644854</a:t>
                </a:r>
              </a:p>
              <a:p>
                <a:pPr lvl="0" indent="0" marL="0">
                  <a:buNone/>
                </a:pPr>
                <a:r>
                  <a:rPr b="1"/>
                  <a:t>Interpretation</a:t>
                </a:r>
              </a:p>
              <a:p>
                <a:pPr lvl="0" indent="0" marL="0">
                  <a:buNone/>
                </a:pPr>
                <a:r>
                  <a:rPr/>
                  <a:t>red region represents the p-value: </a:t>
                </a:r>
                <a14:m>
                  <m:oMath xmlns:m="http://schemas.openxmlformats.org/officeDocument/2006/math">
                    <m:r>
                      <m:t>P</m:t>
                    </m:r>
                    <m:d>
                      <m:dPr>
                        <m:begChr m:val="("/>
                        <m:sepChr m:val=""/>
                        <m:endChr m:val=")"/>
                        <m:grow/>
                      </m:dPr>
                      <m:e>
                        <m:r>
                          <m:t>Z</m:t>
                        </m:r>
                        <m:r>
                          <m:rPr>
                            <m:sty m:val="p"/>
                          </m:rPr>
                          <m:t>≥</m:t>
                        </m:r>
                        <m:r>
                          <m:t>2.8</m:t>
                        </m:r>
                        <m:r>
                          <m:rPr>
                            <m:sty m:val="p"/>
                          </m:rPr>
                          <m:t>∣</m:t>
                        </m:r>
                        <m:sSub>
                          <m:e>
                            <m:r>
                              <m:t>H</m:t>
                            </m:r>
                          </m:e>
                          <m:sub>
                            <m:r>
                              <m:t>0</m:t>
                            </m:r>
                          </m:sub>
                        </m:sSub>
                      </m:e>
                    </m:d>
                  </m:oMath>
                </a14:m>
              </a:p>
              <a:p>
                <a:pPr lvl="0"/>
                <a:r>
                  <a:rPr/>
                  <a:t>sample provides evidence against the null hypothesis</a:t>
                </a:r>
              </a:p>
            </p:txBody>
          </p:sp>
        </mc:Choice>
      </mc:AlternateContent>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State the Statistical Conclusion</a:t>
                </a:r>
              </a:p>
              <a:p>
                <a:pPr lvl="0" indent="0" marL="0">
                  <a:buNone/>
                </a:pPr>
                <a:r>
                  <a:rPr b="1"/>
                  <a:t>Step 9: state conclusion</a:t>
                </a:r>
              </a:p>
              <a:p>
                <a:pPr lvl="0"/>
                <a:r>
                  <a:rPr/>
                  <a:t>final step of hypothesis testing is making a statistical decision based on the observed evidence</a:t>
                </a:r>
              </a:p>
              <a:p>
                <a:pPr lvl="0" indent="0" marL="0">
                  <a:buNone/>
                </a:pPr>
                <a:r>
                  <a:rPr/>
                  <a:t>Notes on comparing the observed p-value and pre-selected significance level: </a:t>
                </a:r>
                <a14:m>
                  <m:oMath xmlns:m="http://schemas.openxmlformats.org/officeDocument/2006/math">
                    <m:r>
                      <m:t>α</m:t>
                    </m:r>
                  </m:oMath>
                </a14:m>
              </a:p>
              <a:p>
                <a:pPr lvl="0" indent="0" marL="0">
                  <a:buNone/>
                </a:pPr>
                <a:r>
                  <a:rPr/>
                  <a:t>p-value decision rule:</a:t>
                </a:r>
              </a:p>
              <a:p>
                <a:pPr lvl="0"/>
                <a:r>
                  <a:rPr/>
                  <a:t>reject </a:t>
                </a:r>
                <a14:m>
                  <m:oMath xmlns:m="http://schemas.openxmlformats.org/officeDocument/2006/math">
                    <m:sSub>
                      <m:e>
                        <m:r>
                          <m:t>H</m:t>
                        </m:r>
                      </m:e>
                      <m:sub>
                        <m:r>
                          <m:t>0</m:t>
                        </m:r>
                      </m:sub>
                    </m:sSub>
                  </m:oMath>
                </a14:m>
                <a:r>
                  <a:rPr/>
                  <a:t> if: p≤α</a:t>
                </a:r>
              </a:p>
              <a:p>
                <a:pPr lvl="0"/>
                <a:r>
                  <a:rPr/>
                  <a:t>fail to reject </a:t>
                </a:r>
                <a14:m>
                  <m:oMath xmlns:m="http://schemas.openxmlformats.org/officeDocument/2006/math">
                    <m:sSub>
                      <m:e>
                        <m:r>
                          <m:t>H</m:t>
                        </m:r>
                      </m:e>
                      <m:sub>
                        <m:r>
                          <m:t>0</m:t>
                        </m:r>
                      </m:sub>
                    </m:sSub>
                  </m:oMath>
                </a14:m>
                <a:r>
                  <a:rPr/>
                  <a:t> otherwise</a:t>
                </a:r>
              </a:p>
              <a:p>
                <a:pPr lvl="0" indent="0" marL="0">
                  <a:buNone/>
                </a:pPr>
                <a:r>
                  <a:rPr/>
                  <a:t>Interpretation:</a:t>
                </a:r>
              </a:p>
              <a:p>
                <a:pPr lvl="0"/>
                <a:r>
                  <a:rPr/>
                  <a:t>rejecting </a:t>
                </a:r>
                <a14:m>
                  <m:oMath xmlns:m="http://schemas.openxmlformats.org/officeDocument/2006/math">
                    <m:sSub>
                      <m:e>
                        <m:r>
                          <m:t>H</m:t>
                        </m:r>
                      </m:e>
                      <m:sub>
                        <m:r>
                          <m:t>0</m:t>
                        </m:r>
                      </m:sub>
                    </m:sSub>
                  </m:oMath>
                </a14:m>
                <a:r>
                  <a:rPr/>
                  <a:t> → evidence against the null hypothesis</a:t>
                </a:r>
              </a:p>
              <a:p>
                <a:pPr lvl="0"/>
                <a:r>
                  <a:rPr/>
                  <a:t>failing to reject </a:t>
                </a:r>
                <a14:m>
                  <m:oMath xmlns:m="http://schemas.openxmlformats.org/officeDocument/2006/math">
                    <m:sSub>
                      <m:e>
                        <m:r>
                          <m:t>H</m:t>
                        </m:r>
                      </m:e>
                      <m:sub>
                        <m:r>
                          <m:t>0</m:t>
                        </m:r>
                      </m:sub>
                    </m:sSub>
                  </m:oMath>
                </a14:m>
                <a:r>
                  <a:rPr/>
                  <a:t> → insufficient evidence against the null hypothesis</a:t>
                </a:r>
              </a:p>
              <a:p>
                <a:pPr lvl="0" indent="0" marL="0">
                  <a:buNone/>
                </a:pPr>
                <a:r>
                  <a:rPr/>
                  <a:t>Note: failing to reject </a:t>
                </a:r>
                <a14:m>
                  <m:oMath xmlns:m="http://schemas.openxmlformats.org/officeDocument/2006/math">
                    <m:sSub>
                      <m:e>
                        <m:r>
                          <m:t>H</m:t>
                        </m:r>
                      </m:e>
                      <m:sub>
                        <m:r>
                          <m:t>0</m:t>
                        </m:r>
                      </m:sub>
                    </m:sSub>
                  </m:oMath>
                </a14:m>
                <a:r>
                  <a:rPr/>
                  <a:t> does NOT prove the null hypothesis is true, instead, it means the sample does not provide sufficiently strong evidence against it</a:t>
                </a:r>
              </a:p>
              <a:p>
                <a:pPr lvl="0" indent="0" marL="0">
                  <a:buNone/>
                </a:pPr>
                <a:r>
                  <a:rPr/>
                  <a:t>Consider:</a:t>
                </a:r>
              </a:p>
              <a:p>
                <a:pPr lvl="0"/>
                <a:r>
                  <a:rPr/>
                  <a:t>small samples may fail to detect real effects</a:t>
                </a:r>
                <a:br/>
              </a:p>
              <a:p>
                <a:pPr lvl="0"/>
                <a:r>
                  <a:rPr/>
                  <a:t>high variability may weaken statistical evidence</a:t>
                </a:r>
                <a:br/>
              </a:p>
              <a:p>
                <a:pPr lvl="0"/>
                <a:r>
                  <a:rPr/>
                  <a:t>absence of evidence is not the same as evidence of absence</a:t>
                </a:r>
              </a:p>
            </p:txBody>
          </p:sp>
        </mc:Choice>
      </mc:AlternateContent>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State the Scientific Conclusion</a:t>
                </a:r>
              </a:p>
              <a:p>
                <a:pPr lvl="0" indent="0" marL="0">
                  <a:buNone/>
                </a:pPr>
                <a:r>
                  <a:rPr b="1"/>
                  <a:t>Step 9: state conclusion</a:t>
                </a:r>
              </a:p>
              <a:p>
                <a:pPr lvl="0" indent="0" marL="0">
                  <a:buNone/>
                </a:pPr>
                <a:r>
                  <a:rPr/>
                  <a:t>Scientific interpretation includes:</a:t>
                </a:r>
              </a:p>
              <a:p>
                <a:pPr lvl="0"/>
                <a:r>
                  <a:rPr/>
                  <a:t>statistical decision</a:t>
                </a:r>
              </a:p>
              <a:p>
                <a:pPr lvl="0"/>
                <a:r>
                  <a:rPr/>
                  <a:t>population quantity</a:t>
                </a:r>
              </a:p>
              <a:p>
                <a:pPr lvl="0"/>
                <a:r>
                  <a:rPr/>
                  <a:t>significance level</a:t>
                </a:r>
              </a:p>
              <a:p>
                <a:pPr lvl="0"/>
                <a:r>
                  <a:rPr/>
                  <a:t>biomedical context</a:t>
                </a:r>
              </a:p>
              <a:p>
                <a:pPr lvl="0" indent="0" marL="0">
                  <a:buNone/>
                </a:pPr>
                <a:r>
                  <a:rPr b="1"/>
                  <a:t>Interpretation</a:t>
                </a:r>
                <a:r>
                  <a:rPr/>
                  <a:t>:</a:t>
                </a:r>
              </a:p>
              <a:p>
                <a:pPr lvl="0"/>
                <a:r>
                  <a:rPr/>
                  <a:t>evidence suggests that the targeted biomarker may be associated with increased tumor response probability in the population</a:t>
                </a:r>
              </a:p>
              <a:p>
                <a:pPr lvl="0"/>
                <a:r>
                  <a:rPr/>
                  <a:t>among </a:t>
                </a:r>
                <a14:m>
                  <m:oMath xmlns:m="http://schemas.openxmlformats.org/officeDocument/2006/math">
                    <m:r>
                      <m:t>n</m:t>
                    </m:r>
                    <m:r>
                      <m:rPr>
                        <m:sty m:val="p"/>
                      </m:rPr>
                      <m:t>=</m:t>
                    </m:r>
                    <m:r>
                      <m:t>100</m:t>
                    </m:r>
                  </m:oMath>
                </a14:m>
                <a:r>
                  <a:rPr/>
                  <a:t> biomarker-positive cancer patients, the observed tumor response proportion was substantially larger than what would typically be expected if the true population response probability were 50%</a:t>
                </a:r>
              </a:p>
              <a:p>
                <a:pPr lvl="0"/>
                <a:r>
                  <a:rPr/>
                  <a:t>observed z statistic is </a:t>
                </a:r>
                <a14:m>
                  <m:oMath xmlns:m="http://schemas.openxmlformats.org/officeDocument/2006/math">
                    <m:r>
                      <m:t>z</m:t>
                    </m:r>
                    <m:r>
                      <m:rPr>
                        <m:sty m:val="p"/>
                      </m:rPr>
                      <m:t>≈</m:t>
                    </m:r>
                    <m:r>
                      <m:t>2.8</m:t>
                    </m:r>
                  </m:oMath>
                </a14:m>
                <a:r>
                  <a:rPr/>
                  <a:t> indicating that the sample response proportion was approximately 2.8 standard errors above the null response probability</a:t>
                </a:r>
              </a:p>
              <a:p>
                <a:pPr lvl="0"/>
                <a:r>
                  <a:rPr/>
                  <a:t>p-value </a:t>
                </a:r>
                <a14:m>
                  <m:oMath xmlns:m="http://schemas.openxmlformats.org/officeDocument/2006/math">
                    <m:r>
                      <m:t>p</m:t>
                    </m:r>
                    <m:r>
                      <m:rPr>
                        <m:sty m:val="p"/>
                      </m:rPr>
                      <m:t>≈</m:t>
                    </m:r>
                    <m:r>
                      <m:t>0.0026</m:t>
                    </m:r>
                  </m:oMath>
                </a14:m>
                <a:r>
                  <a:rPr/>
                  <a:t> : result this extreme would be very unlikely under the null hypothesis</a:t>
                </a:r>
              </a:p>
            </p:txBody>
          </p:sp>
        </mc:Choice>
      </mc:AlternateContent>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Summary</a:t>
            </a:r>
          </a:p>
          <a:p>
            <a:pPr lvl="0"/>
            <a:r>
              <a:rPr/>
              <a:t>hypothesis test : an approach for evaluating whether observed sample data are consistent with a proposed population claim</a:t>
            </a:r>
          </a:p>
          <a:p>
            <a:pPr lvl="0"/>
            <a:r>
              <a:rPr/>
              <a:t>hypothesis test can be used to help determine whether the observed data are sufficiently inconsistent with the null hypothesis to support an alternative scientific explanation</a:t>
            </a:r>
          </a:p>
          <a:p>
            <a:pPr lvl="0"/>
            <a:r>
              <a:rPr/>
              <a:t>hypothesis testing is built on estimation and sampling variability</a:t>
            </a:r>
          </a:p>
          <a:p>
            <a:pPr lvl="0"/>
            <a:r>
              <a:rPr/>
              <a:t>test statistic quantifies evidence relative to the null hypothesis</a:t>
            </a:r>
          </a:p>
          <a:p>
            <a:pPr lvl="0"/>
            <a:r>
              <a:rPr/>
              <a:t>p-value measures inconsistency with the null model</a:t>
            </a:r>
          </a:p>
          <a:p>
            <a:pPr lvl="0"/>
            <a:r>
              <a:rPr/>
              <a:t>conclusions are interpreted in scientific context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Foundations in Hypothesis Testing</dc:title>
  <dc:creator> Lesley Chapman Hannah, Ph.D., M.S. College of Graduate Studies Northeast Ohio Medical University</dc:creator>
  <cp:keywords/>
  <dcterms:created xsi:type="dcterms:W3CDTF">2026-06-04T14:45:37Z</dcterms:created>
  <dcterms:modified xsi:type="dcterms:W3CDTF">2026-06-04T14:45:37Z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execute">
    <vt:lpwstr/>
  </property>
  <property fmtid="{D5CDD505-2E9C-101B-9397-08002B2CF9AE}" pid="6" name="header-includes">
    <vt:lpwstr/>
  </property>
  <property fmtid="{D5CDD505-2E9C-101B-9397-08002B2CF9AE}" pid="7" name="include-after">
    <vt:lpwstr/>
  </property>
  <property fmtid="{D5CDD505-2E9C-101B-9397-08002B2CF9AE}" pid="8" name="include-before">
    <vt:lpwstr/>
  </property>
  <property fmtid="{D5CDD505-2E9C-101B-9397-08002B2CF9AE}" pid="9" name="labels">
    <vt:lpwstr/>
  </property>
  <property fmtid="{D5CDD505-2E9C-101B-9397-08002B2CF9AE}" pid="10" name="toc-title">
    <vt:lpwstr>Table of contents</vt:lpwstr>
  </property>
</Properties>
</file>